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3240088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94"/>
  </p:normalViewPr>
  <p:slideViewPr>
    <p:cSldViewPr snapToGrid="0">
      <p:cViewPr varScale="1">
        <p:scale>
          <a:sx n="222" d="100"/>
          <a:sy n="222" d="100"/>
        </p:scale>
        <p:origin x="2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07" y="589241"/>
            <a:ext cx="2754075" cy="1253490"/>
          </a:xfrm>
        </p:spPr>
        <p:txBody>
          <a:bodyPr anchor="b"/>
          <a:lstStyle>
            <a:lvl1pPr algn="ctr"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1891070"/>
            <a:ext cx="2430066" cy="869275"/>
          </a:xfrm>
        </p:spPr>
        <p:txBody>
          <a:bodyPr/>
          <a:lstStyle>
            <a:lvl1pPr marL="0" indent="0" algn="ctr">
              <a:buNone/>
              <a:defRPr sz="850"/>
            </a:lvl1pPr>
            <a:lvl2pPr marL="161986" indent="0" algn="ctr">
              <a:buNone/>
              <a:defRPr sz="709"/>
            </a:lvl2pPr>
            <a:lvl3pPr marL="323972" indent="0" algn="ctr">
              <a:buNone/>
              <a:defRPr sz="638"/>
            </a:lvl3pPr>
            <a:lvl4pPr marL="485958" indent="0" algn="ctr">
              <a:buNone/>
              <a:defRPr sz="567"/>
            </a:lvl4pPr>
            <a:lvl5pPr marL="647944" indent="0" algn="ctr">
              <a:buNone/>
              <a:defRPr sz="567"/>
            </a:lvl5pPr>
            <a:lvl6pPr marL="809930" indent="0" algn="ctr">
              <a:buNone/>
              <a:defRPr sz="567"/>
            </a:lvl6pPr>
            <a:lvl7pPr marL="971916" indent="0" algn="ctr">
              <a:buNone/>
              <a:defRPr sz="567"/>
            </a:lvl7pPr>
            <a:lvl8pPr marL="1133902" indent="0" algn="ctr">
              <a:buNone/>
              <a:defRPr sz="567"/>
            </a:lvl8pPr>
            <a:lvl9pPr marL="1295888" indent="0" algn="ctr">
              <a:buNone/>
              <a:defRPr sz="5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417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8863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9" y="897613"/>
            <a:ext cx="2794576" cy="1497687"/>
          </a:xfrm>
        </p:spPr>
        <p:txBody>
          <a:bodyPr anchor="b"/>
          <a:lstStyle>
            <a:lvl1pPr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9" y="2409469"/>
            <a:ext cx="2794576" cy="787598"/>
          </a:xfrm>
        </p:spPr>
        <p:txBody>
          <a:bodyPr/>
          <a:lstStyle>
            <a:lvl1pPr marL="0" indent="0">
              <a:buNone/>
              <a:defRPr sz="850">
                <a:solidFill>
                  <a:schemeClr val="tx1">
                    <a:tint val="82000"/>
                  </a:schemeClr>
                </a:solidFill>
              </a:defRPr>
            </a:lvl1pPr>
            <a:lvl2pPr marL="161986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2pPr>
            <a:lvl3pPr marL="323972" indent="0">
              <a:buNone/>
              <a:defRPr sz="638">
                <a:solidFill>
                  <a:schemeClr val="tx1">
                    <a:tint val="82000"/>
                  </a:schemeClr>
                </a:solidFill>
              </a:defRPr>
            </a:lvl3pPr>
            <a:lvl4pPr marL="485958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4pPr>
            <a:lvl5pPr marL="647944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5pPr>
            <a:lvl6pPr marL="809930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6pPr>
            <a:lvl7pPr marL="971916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7pPr>
            <a:lvl8pPr marL="1133902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8pPr>
            <a:lvl9pPr marL="1295888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519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958453"/>
            <a:ext cx="1377037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958453"/>
            <a:ext cx="1377037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6835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91691"/>
            <a:ext cx="2794576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882610"/>
            <a:ext cx="1370709" cy="432554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1315164"/>
            <a:ext cx="1370709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882610"/>
            <a:ext cx="1377459" cy="432554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1315164"/>
            <a:ext cx="1377459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221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10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649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240030"/>
            <a:ext cx="1045013" cy="840105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518399"/>
            <a:ext cx="1640295" cy="2558653"/>
          </a:xfrm>
        </p:spPr>
        <p:txBody>
          <a:bodyPr/>
          <a:lstStyle>
            <a:lvl1pPr>
              <a:defRPr sz="1134"/>
            </a:lvl1pPr>
            <a:lvl2pPr>
              <a:defRPr sz="992"/>
            </a:lvl2pPr>
            <a:lvl3pPr>
              <a:defRPr sz="850"/>
            </a:lvl3pPr>
            <a:lvl4pPr>
              <a:defRPr sz="709"/>
            </a:lvl4pPr>
            <a:lvl5pPr>
              <a:defRPr sz="709"/>
            </a:lvl5pPr>
            <a:lvl6pPr>
              <a:defRPr sz="709"/>
            </a:lvl6pPr>
            <a:lvl7pPr>
              <a:defRPr sz="709"/>
            </a:lvl7pPr>
            <a:lvl8pPr>
              <a:defRPr sz="709"/>
            </a:lvl8pPr>
            <a:lvl9pPr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1080135"/>
            <a:ext cx="1045013" cy="2001084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015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240030"/>
            <a:ext cx="1045013" cy="840105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518399"/>
            <a:ext cx="1640295" cy="2558653"/>
          </a:xfrm>
        </p:spPr>
        <p:txBody>
          <a:bodyPr anchor="t"/>
          <a:lstStyle>
            <a:lvl1pPr marL="0" indent="0">
              <a:buNone/>
              <a:defRPr sz="1134"/>
            </a:lvl1pPr>
            <a:lvl2pPr marL="161986" indent="0">
              <a:buNone/>
              <a:defRPr sz="992"/>
            </a:lvl2pPr>
            <a:lvl3pPr marL="323972" indent="0">
              <a:buNone/>
              <a:defRPr sz="850"/>
            </a:lvl3pPr>
            <a:lvl4pPr marL="485958" indent="0">
              <a:buNone/>
              <a:defRPr sz="709"/>
            </a:lvl4pPr>
            <a:lvl5pPr marL="647944" indent="0">
              <a:buNone/>
              <a:defRPr sz="709"/>
            </a:lvl5pPr>
            <a:lvl6pPr marL="809930" indent="0">
              <a:buNone/>
              <a:defRPr sz="709"/>
            </a:lvl6pPr>
            <a:lvl7pPr marL="971916" indent="0">
              <a:buNone/>
              <a:defRPr sz="709"/>
            </a:lvl7pPr>
            <a:lvl8pPr marL="1133902" indent="0">
              <a:buNone/>
              <a:defRPr sz="709"/>
            </a:lvl8pPr>
            <a:lvl9pPr marL="1295888" indent="0">
              <a:buNone/>
              <a:defRPr sz="70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1080135"/>
            <a:ext cx="1045013" cy="2001084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983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2566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191691"/>
            <a:ext cx="698644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191691"/>
            <a:ext cx="2055431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214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191691"/>
            <a:ext cx="2794576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958453"/>
            <a:ext cx="2794576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3337084"/>
            <a:ext cx="72902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74355-C6C9-314C-AC75-37C4D08C6C34}" type="datetimeFigureOut">
              <a:rPr lang="en-CA" smtClean="0"/>
              <a:t>2026-06-23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3337084"/>
            <a:ext cx="109353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3337084"/>
            <a:ext cx="72902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865B0-780A-DC43-B75D-CAF9557D5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027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72" rtl="0" eaLnBrk="1" latinLnBrk="0" hangingPunct="1">
        <a:lnSpc>
          <a:spcPct val="90000"/>
        </a:lnSpc>
        <a:spcBef>
          <a:spcPct val="0"/>
        </a:spcBef>
        <a:buNone/>
        <a:defRPr sz="15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3" indent="-80993" algn="l" defTabSz="323972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4297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0496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6695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728937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90923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0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21489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37688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1pPr>
      <a:lvl2pPr marL="16198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2pPr>
      <a:lvl3pPr marL="32397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3pPr>
      <a:lvl4pPr marL="48595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647944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0993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97191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0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29588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977DCEB8-06F9-06A8-F0A3-FD05C8CD45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3048" y="166422"/>
            <a:ext cx="2936127" cy="29412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F79076-1245-6147-C0C4-53029BF2E719}"/>
              </a:ext>
            </a:extLst>
          </p:cNvPr>
          <p:cNvSpPr/>
          <p:nvPr/>
        </p:nvSpPr>
        <p:spPr>
          <a:xfrm>
            <a:off x="82820" y="104924"/>
            <a:ext cx="3396501" cy="3064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9764AE-06B5-5B82-58B1-4E417C8CDFCE}"/>
              </a:ext>
            </a:extLst>
          </p:cNvPr>
          <p:cNvSpPr txBox="1"/>
          <p:nvPr/>
        </p:nvSpPr>
        <p:spPr>
          <a:xfrm>
            <a:off x="2546986" y="450118"/>
            <a:ext cx="693102" cy="10772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bIns="0" rtlCol="0">
            <a:spAutoFit/>
          </a:bodyPr>
          <a:lstStyle/>
          <a:p>
            <a:r>
              <a:rPr lang="en-CA" sz="700" dirty="0">
                <a:latin typeface="Roboto Condensed" pitchFamily="2" charset="0"/>
                <a:ea typeface="Roboto Condensed" pitchFamily="2" charset="0"/>
              </a:rPr>
              <a:t>BTG Effect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6FCE85-8B3E-AA5E-16D5-8F1791D26FEA}"/>
              </a:ext>
            </a:extLst>
          </p:cNvPr>
          <p:cNvSpPr txBox="1"/>
          <p:nvPr/>
        </p:nvSpPr>
        <p:spPr>
          <a:xfrm>
            <a:off x="2550964" y="577794"/>
            <a:ext cx="693102" cy="10772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bIns="0" rtlCol="0">
            <a:spAutoFit/>
          </a:bodyPr>
          <a:lstStyle/>
          <a:p>
            <a:r>
              <a:rPr lang="en-CA" sz="700" dirty="0">
                <a:latin typeface="Roboto Condensed" pitchFamily="2" charset="0"/>
                <a:ea typeface="Roboto Condensed" pitchFamily="2" charset="0"/>
              </a:rPr>
              <a:t>Bioblitz Effect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39B340-D881-D7D1-7FDB-D15069D4E1F9}"/>
              </a:ext>
            </a:extLst>
          </p:cNvPr>
          <p:cNvSpPr txBox="1"/>
          <p:nvPr/>
        </p:nvSpPr>
        <p:spPr>
          <a:xfrm>
            <a:off x="2546189" y="707322"/>
            <a:ext cx="693102" cy="10772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bIns="0" rtlCol="0">
            <a:spAutoFit/>
          </a:bodyPr>
          <a:lstStyle/>
          <a:p>
            <a:r>
              <a:rPr lang="en-CA" sz="700" dirty="0">
                <a:latin typeface="Roboto Condensed" pitchFamily="2" charset="0"/>
                <a:ea typeface="Roboto Condensed" pitchFamily="2" charset="0"/>
              </a:rPr>
              <a:t>Funding Effect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AAD9EC-2009-535C-0834-489D500A09FB}"/>
              </a:ext>
            </a:extLst>
          </p:cNvPr>
          <p:cNvSpPr txBox="1"/>
          <p:nvPr/>
        </p:nvSpPr>
        <p:spPr>
          <a:xfrm>
            <a:off x="2546189" y="826064"/>
            <a:ext cx="693102" cy="10772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bIns="0" rtlCol="0">
            <a:spAutoFit/>
          </a:bodyPr>
          <a:lstStyle/>
          <a:p>
            <a:r>
              <a:rPr lang="en-CA" sz="700" dirty="0">
                <a:latin typeface="Roboto Condensed" pitchFamily="2" charset="0"/>
                <a:ea typeface="Roboto Condensed" pitchFamily="2" charset="0"/>
              </a:rPr>
              <a:t>Expectation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3C0CDA-857B-1C7D-30D6-2ADDA00FBF0F}"/>
              </a:ext>
            </a:extLst>
          </p:cNvPr>
          <p:cNvGrpSpPr>
            <a:grpSpLocks noChangeAspect="1"/>
          </p:cNvGrpSpPr>
          <p:nvPr/>
        </p:nvGrpSpPr>
        <p:grpSpPr>
          <a:xfrm>
            <a:off x="2371611" y="442823"/>
            <a:ext cx="739650" cy="501983"/>
            <a:chOff x="3240088" y="255583"/>
            <a:chExt cx="1711594" cy="11616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91B02BE-F5DF-5B97-DCF6-66B720E3C4D7}"/>
                </a:ext>
              </a:extLst>
            </p:cNvPr>
            <p:cNvSpPr/>
            <p:nvPr/>
          </p:nvSpPr>
          <p:spPr>
            <a:xfrm>
              <a:off x="3240088" y="255583"/>
              <a:ext cx="1711594" cy="11616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FAC2967-BC6B-20FD-74FD-4D81DDC2C11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60676" y="255583"/>
              <a:ext cx="1691006" cy="1161618"/>
              <a:chOff x="9482516" y="765949"/>
              <a:chExt cx="1147704" cy="788402"/>
            </a:xfrm>
          </p:grpSpPr>
          <p:pic>
            <p:nvPicPr>
              <p:cNvPr id="10" name="Picture 9" descr="A graph of different colored bars&#10;&#10;Description automatically generated">
                <a:extLst>
                  <a:ext uri="{FF2B5EF4-FFF2-40B4-BE49-F238E27FC236}">
                    <a16:creationId xmlns:a16="http://schemas.microsoft.com/office/drawing/2014/main" id="{1B48769C-57FC-8D2D-908D-B2F669A7BD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3303" t="8758" r="76614" b="88440"/>
              <a:stretch/>
            </p:blipFill>
            <p:spPr>
              <a:xfrm>
                <a:off x="9485166" y="765949"/>
                <a:ext cx="933612" cy="192100"/>
              </a:xfrm>
              <a:prstGeom prst="rect">
                <a:avLst/>
              </a:prstGeom>
            </p:spPr>
          </p:pic>
          <p:pic>
            <p:nvPicPr>
              <p:cNvPr id="11" name="Picture 10" descr="A graph of different colored bars&#10;&#10;Description automatically generated">
                <a:extLst>
                  <a:ext uri="{FF2B5EF4-FFF2-40B4-BE49-F238E27FC236}">
                    <a16:creationId xmlns:a16="http://schemas.microsoft.com/office/drawing/2014/main" id="{22710543-E87F-7C86-EEB1-E10A676436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0980" t="9132" r="47263" b="88496"/>
              <a:stretch/>
            </p:blipFill>
            <p:spPr>
              <a:xfrm>
                <a:off x="9506962" y="986221"/>
                <a:ext cx="1088570" cy="162646"/>
              </a:xfrm>
              <a:prstGeom prst="rect">
                <a:avLst/>
              </a:prstGeom>
            </p:spPr>
          </p:pic>
          <p:pic>
            <p:nvPicPr>
              <p:cNvPr id="12" name="Picture 11" descr="A graph of different colored bars&#10;&#10;Description automatically generated">
                <a:extLst>
                  <a:ext uri="{FF2B5EF4-FFF2-40B4-BE49-F238E27FC236}">
                    <a16:creationId xmlns:a16="http://schemas.microsoft.com/office/drawing/2014/main" id="{C7E290C8-BF37-938F-7800-1BE466EC69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9279" t="9118" r="18549" b="88229"/>
              <a:stretch/>
            </p:blipFill>
            <p:spPr>
              <a:xfrm>
                <a:off x="9503230" y="1177040"/>
                <a:ext cx="1126990" cy="181889"/>
              </a:xfrm>
              <a:prstGeom prst="rect">
                <a:avLst/>
              </a:prstGeom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66BE03-F4E6-395F-9EBE-AD5000DD37D9}"/>
                  </a:ext>
                </a:extLst>
              </p:cNvPr>
              <p:cNvSpPr/>
              <p:nvPr/>
            </p:nvSpPr>
            <p:spPr>
              <a:xfrm>
                <a:off x="9482516" y="1336186"/>
                <a:ext cx="202660" cy="1045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14" name="Picture 13" descr="A graph of different colored bars&#10;&#10;Description automatically generated">
                <a:extLst>
                  <a:ext uri="{FF2B5EF4-FFF2-40B4-BE49-F238E27FC236}">
                    <a16:creationId xmlns:a16="http://schemas.microsoft.com/office/drawing/2014/main" id="{5A64326F-D0E3-7F75-97B1-2C7FCAE6CA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9279" t="11611" r="18549" b="85736"/>
              <a:stretch/>
            </p:blipFill>
            <p:spPr>
              <a:xfrm>
                <a:off x="9503230" y="1372463"/>
                <a:ext cx="1126990" cy="181888"/>
              </a:xfrm>
              <a:prstGeom prst="rect">
                <a:avLst/>
              </a:prstGeom>
            </p:spPr>
          </p:pic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5CE0926-D296-AD78-EF60-7803D78B1D42}"/>
              </a:ext>
            </a:extLst>
          </p:cNvPr>
          <p:cNvSpPr txBox="1"/>
          <p:nvPr/>
        </p:nvSpPr>
        <p:spPr>
          <a:xfrm>
            <a:off x="3019322" y="2156605"/>
            <a:ext cx="5175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00" dirty="0">
                <a:latin typeface="Roboto Condensed Light" pitchFamily="2" charset="0"/>
                <a:ea typeface="Roboto Condensed Light" pitchFamily="2" charset="0"/>
              </a:rPr>
              <a:t>doubling</a:t>
            </a:r>
          </a:p>
        </p:txBody>
      </p:sp>
    </p:spTree>
    <p:extLst>
      <p:ext uri="{BB962C8B-B14F-4D97-AF65-F5344CB8AC3E}">
        <p14:creationId xmlns:p14="http://schemas.microsoft.com/office/powerpoint/2010/main" val="3188471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10401-EB72-56B6-1AC1-52206476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9368A916-8693-934E-A8E5-DC7ADA9CD39B}"/>
              </a:ext>
            </a:extLst>
          </p:cNvPr>
          <p:cNvGrpSpPr/>
          <p:nvPr/>
        </p:nvGrpSpPr>
        <p:grpSpPr>
          <a:xfrm>
            <a:off x="-128827" y="104924"/>
            <a:ext cx="3608149" cy="3245694"/>
            <a:chOff x="-128827" y="104924"/>
            <a:chExt cx="3608149" cy="324569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1104D5C-7A77-86FA-D92B-44EDD9515128}"/>
                </a:ext>
              </a:extLst>
            </p:cNvPr>
            <p:cNvSpPr/>
            <p:nvPr/>
          </p:nvSpPr>
          <p:spPr>
            <a:xfrm>
              <a:off x="-128826" y="104924"/>
              <a:ext cx="3608148" cy="32456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6" name="Picture 5" descr="A graph of different colored bars&#10;&#10;Description automatically generated with medium confidence">
              <a:extLst>
                <a:ext uri="{FF2B5EF4-FFF2-40B4-BE49-F238E27FC236}">
                  <a16:creationId xmlns:a16="http://schemas.microsoft.com/office/drawing/2014/main" id="{8809CBC2-B370-D05C-CAF3-9C7B268FC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8827" y="104924"/>
              <a:ext cx="3240088" cy="3245694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58F52C6-61D7-A8CC-45FA-2F83A66884F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29120" y="322053"/>
              <a:ext cx="739650" cy="501983"/>
              <a:chOff x="3240088" y="255583"/>
              <a:chExt cx="1711594" cy="116161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059EDA7-3125-599D-5626-5CEA1A46300A}"/>
                  </a:ext>
                </a:extLst>
              </p:cNvPr>
              <p:cNvSpPr/>
              <p:nvPr/>
            </p:nvSpPr>
            <p:spPr>
              <a:xfrm>
                <a:off x="3240088" y="255583"/>
                <a:ext cx="1711594" cy="11616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E88E006-D192-1477-8B24-4BF29F27B3B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260676" y="255583"/>
                <a:ext cx="1691006" cy="1161618"/>
                <a:chOff x="9482516" y="765949"/>
                <a:chExt cx="1147704" cy="788402"/>
              </a:xfrm>
            </p:grpSpPr>
            <p:pic>
              <p:nvPicPr>
                <p:cNvPr id="10" name="Picture 9" descr="A graph of different colored bars&#10;&#10;Description automatically generated">
                  <a:extLst>
                    <a:ext uri="{FF2B5EF4-FFF2-40B4-BE49-F238E27FC236}">
                      <a16:creationId xmlns:a16="http://schemas.microsoft.com/office/drawing/2014/main" id="{5DBB93FA-1D2B-334C-7696-27BD525D37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13303" t="8758" r="76614" b="88440"/>
                <a:stretch/>
              </p:blipFill>
              <p:spPr>
                <a:xfrm>
                  <a:off x="9485166" y="765949"/>
                  <a:ext cx="933612" cy="192100"/>
                </a:xfrm>
                <a:prstGeom prst="rect">
                  <a:avLst/>
                </a:prstGeom>
              </p:spPr>
            </p:pic>
            <p:pic>
              <p:nvPicPr>
                <p:cNvPr id="11" name="Picture 10" descr="A graph of different colored bars&#10;&#10;Description automatically generated">
                  <a:extLst>
                    <a:ext uri="{FF2B5EF4-FFF2-40B4-BE49-F238E27FC236}">
                      <a16:creationId xmlns:a16="http://schemas.microsoft.com/office/drawing/2014/main" id="{2CA5C529-DD39-1626-AABA-B8FFA51CDE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40980" t="9132" r="47263" b="88496"/>
                <a:stretch/>
              </p:blipFill>
              <p:spPr>
                <a:xfrm>
                  <a:off x="9506962" y="986221"/>
                  <a:ext cx="1088570" cy="162646"/>
                </a:xfrm>
                <a:prstGeom prst="rect">
                  <a:avLst/>
                </a:prstGeom>
              </p:spPr>
            </p:pic>
            <p:pic>
              <p:nvPicPr>
                <p:cNvPr id="12" name="Picture 11" descr="A graph of different colored bars&#10;&#10;Description automatically generated">
                  <a:extLst>
                    <a:ext uri="{FF2B5EF4-FFF2-40B4-BE49-F238E27FC236}">
                      <a16:creationId xmlns:a16="http://schemas.microsoft.com/office/drawing/2014/main" id="{EB95929A-0A9D-0F79-F115-9A3C01F5ED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69279" t="9118" r="18549" b="88229"/>
                <a:stretch/>
              </p:blipFill>
              <p:spPr>
                <a:xfrm>
                  <a:off x="9503230" y="1177040"/>
                  <a:ext cx="1126990" cy="181889"/>
                </a:xfrm>
                <a:prstGeom prst="rect">
                  <a:avLst/>
                </a:prstGeom>
              </p:spPr>
            </p:pic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AC503DF4-C1F2-E4AD-360D-6CCDD70D2D9E}"/>
                    </a:ext>
                  </a:extLst>
                </p:cNvPr>
                <p:cNvSpPr/>
                <p:nvPr/>
              </p:nvSpPr>
              <p:spPr>
                <a:xfrm>
                  <a:off x="9482516" y="1336186"/>
                  <a:ext cx="202660" cy="1045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pic>
              <p:nvPicPr>
                <p:cNvPr id="14" name="Picture 13" descr="A graph of different colored bars&#10;&#10;Description automatically generated">
                  <a:extLst>
                    <a:ext uri="{FF2B5EF4-FFF2-40B4-BE49-F238E27FC236}">
                      <a16:creationId xmlns:a16="http://schemas.microsoft.com/office/drawing/2014/main" id="{716762C5-7DEF-4810-B540-A7173FDA6D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69279" t="11611" r="18549" b="85736"/>
                <a:stretch/>
              </p:blipFill>
              <p:spPr>
                <a:xfrm>
                  <a:off x="9503230" y="1372463"/>
                  <a:ext cx="1126990" cy="181888"/>
                </a:xfrm>
                <a:prstGeom prst="rect">
                  <a:avLst/>
                </a:prstGeom>
              </p:spPr>
            </p:pic>
          </p:grp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71FFF4C-2DEA-18F8-11AC-3F81D0E4005C}"/>
                </a:ext>
              </a:extLst>
            </p:cNvPr>
            <p:cNvSpPr txBox="1"/>
            <p:nvPr/>
          </p:nvSpPr>
          <p:spPr>
            <a:xfrm>
              <a:off x="2608473" y="457024"/>
              <a:ext cx="693102" cy="1077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bIns="0" rtlCol="0">
              <a:spAutoFit/>
            </a:bodyPr>
            <a:lstStyle/>
            <a:p>
              <a:r>
                <a:rPr lang="en-CA" sz="700" dirty="0">
                  <a:latin typeface="Roboto Condensed" pitchFamily="2" charset="0"/>
                  <a:ea typeface="Roboto Condensed" pitchFamily="2" charset="0"/>
                </a:rPr>
                <a:t>Bioblitz Effect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24D0893-0BBB-1C99-65D3-E2884AEF5DF3}"/>
                </a:ext>
              </a:extLst>
            </p:cNvPr>
            <p:cNvSpPr txBox="1"/>
            <p:nvPr/>
          </p:nvSpPr>
          <p:spPr>
            <a:xfrm>
              <a:off x="2603698" y="705294"/>
              <a:ext cx="693102" cy="1077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bIns="0" rtlCol="0">
              <a:spAutoFit/>
            </a:bodyPr>
            <a:lstStyle/>
            <a:p>
              <a:r>
                <a:rPr lang="en-CA" sz="700" dirty="0">
                  <a:latin typeface="Roboto Condensed" pitchFamily="2" charset="0"/>
                  <a:ea typeface="Roboto Condensed" pitchFamily="2" charset="0"/>
                </a:rPr>
                <a:t>Expectation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68463D-3296-2544-74C5-D133FF3078FD}"/>
                </a:ext>
              </a:extLst>
            </p:cNvPr>
            <p:cNvSpPr txBox="1"/>
            <p:nvPr/>
          </p:nvSpPr>
          <p:spPr>
            <a:xfrm>
              <a:off x="2603698" y="586552"/>
              <a:ext cx="693102" cy="1077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bIns="0" rtlCol="0">
              <a:spAutoFit/>
            </a:bodyPr>
            <a:lstStyle/>
            <a:p>
              <a:r>
                <a:rPr lang="en-CA" sz="700" dirty="0">
                  <a:latin typeface="Roboto Condensed" pitchFamily="2" charset="0"/>
                  <a:ea typeface="Roboto Condensed" pitchFamily="2" charset="0"/>
                </a:rPr>
                <a:t>Funding Effect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FF6EF6-149A-CD25-CCAF-B4D2DF458985}"/>
                </a:ext>
              </a:extLst>
            </p:cNvPr>
            <p:cNvSpPr txBox="1"/>
            <p:nvPr/>
          </p:nvSpPr>
          <p:spPr>
            <a:xfrm>
              <a:off x="2604495" y="329348"/>
              <a:ext cx="693102" cy="1077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bIns="0" rtlCol="0">
              <a:spAutoFit/>
            </a:bodyPr>
            <a:lstStyle/>
            <a:p>
              <a:r>
                <a:rPr lang="en-CA" sz="700" dirty="0">
                  <a:latin typeface="Roboto Condensed" pitchFamily="2" charset="0"/>
                  <a:ea typeface="Roboto Condensed" pitchFamily="2" charset="0"/>
                </a:rPr>
                <a:t>BTG Effect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07E3226-B7CA-4BE1-BBC3-0245B4865846}"/>
                </a:ext>
              </a:extLst>
            </p:cNvPr>
            <p:cNvSpPr txBox="1"/>
            <p:nvPr/>
          </p:nvSpPr>
          <p:spPr>
            <a:xfrm>
              <a:off x="3001424" y="2329133"/>
              <a:ext cx="477897" cy="200055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en-CA" sz="700" dirty="0">
                  <a:latin typeface="Roboto Condensed Light" pitchFamily="2" charset="0"/>
                  <a:ea typeface="Roboto Condensed Light" pitchFamily="2" charset="0"/>
                </a:rPr>
                <a:t>doubling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913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431</TotalTime>
  <Words>16</Words>
  <Application>Microsoft Macintosh PowerPoint</Application>
  <PresentationFormat>Custom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Roboto Condensed</vt:lpstr>
      <vt:lpstr>Roboto Condensed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Hébert</dc:creator>
  <cp:lastModifiedBy>Katherine Hébert</cp:lastModifiedBy>
  <cp:revision>2</cp:revision>
  <dcterms:created xsi:type="dcterms:W3CDTF">2026-05-29T13:49:59Z</dcterms:created>
  <dcterms:modified xsi:type="dcterms:W3CDTF">2026-06-23T15:38:08Z</dcterms:modified>
</cp:coreProperties>
</file>