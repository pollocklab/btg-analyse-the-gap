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7" r:id="rId2"/>
    <p:sldId id="259" r:id="rId3"/>
    <p:sldId id="256" r:id="rId4"/>
    <p:sldId id="258" r:id="rId5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>
        <p:scale>
          <a:sx n="32" d="100"/>
          <a:sy n="32" d="100"/>
        </p:scale>
        <p:origin x="4600" y="1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2026-06-10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78727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2026-06-10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67672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2026-06-10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550875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2026-06-10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73141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2026-06-10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288103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2026-06-10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023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2026-06-10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35582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2026-06-10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43376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2026-06-10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15537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2026-06-10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20755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F8F91-EE85-BD43-9E1D-25AB87C02838}" type="datetimeFigureOut">
              <a:rPr lang="en-CA" smtClean="0"/>
              <a:t>2026-06-10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4637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FF8F91-EE85-BD43-9E1D-25AB87C02838}" type="datetimeFigureOut">
              <a:rPr lang="en-CA" smtClean="0"/>
              <a:t>2026-06-10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DEDB94-7D10-3D4D-8C62-78CFFEFB31B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25833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5E87D-88D0-2933-6F77-DF4274862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F364958C-4FE4-6C9D-2E24-C898BA47BC9E}"/>
              </a:ext>
            </a:extLst>
          </p:cNvPr>
          <p:cNvGrpSpPr/>
          <p:nvPr/>
        </p:nvGrpSpPr>
        <p:grpSpPr>
          <a:xfrm>
            <a:off x="4160" y="-6103"/>
            <a:ext cx="7156498" cy="9144000"/>
            <a:chOff x="4160" y="-6103"/>
            <a:chExt cx="7156498" cy="9144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8CD1728-45BB-F6CA-49F4-BB2DD8C937C8}"/>
                </a:ext>
              </a:extLst>
            </p:cNvPr>
            <p:cNvSpPr/>
            <p:nvPr/>
          </p:nvSpPr>
          <p:spPr>
            <a:xfrm>
              <a:off x="4160" y="-6103"/>
              <a:ext cx="7156498" cy="914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34" name="Picture 33" descr="A map of canada with different colored dots&#10;&#10;Description automatically generated">
              <a:extLst>
                <a:ext uri="{FF2B5EF4-FFF2-40B4-BE49-F238E27FC236}">
                  <a16:creationId xmlns:a16="http://schemas.microsoft.com/office/drawing/2014/main" id="{BE0C0BFB-BD88-C51D-0BBE-B202EB175B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/>
            </a:blip>
            <a:srcRect l="7487" t="10460" r="22151" b="12371"/>
            <a:stretch/>
          </p:blipFill>
          <p:spPr>
            <a:xfrm>
              <a:off x="334567" y="104852"/>
              <a:ext cx="6109905" cy="5360697"/>
            </a:xfrm>
            <a:prstGeom prst="rect">
              <a:avLst/>
            </a:prstGeom>
          </p:spPr>
        </p:pic>
        <p:pic>
          <p:nvPicPr>
            <p:cNvPr id="35" name="Picture 34" descr="A map of canada with different colored dots&#10;&#10;Description automatically generated">
              <a:extLst>
                <a:ext uri="{FF2B5EF4-FFF2-40B4-BE49-F238E27FC236}">
                  <a16:creationId xmlns:a16="http://schemas.microsoft.com/office/drawing/2014/main" id="{555F416F-F1CD-7C4D-C036-F3955642A9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/>
            </a:blip>
            <a:srcRect l="82336" t="35710" r="3007" b="32869"/>
            <a:stretch/>
          </p:blipFill>
          <p:spPr>
            <a:xfrm>
              <a:off x="5352566" y="177922"/>
              <a:ext cx="1702672" cy="2920181"/>
            </a:xfrm>
            <a:prstGeom prst="rect">
              <a:avLst/>
            </a:prstGeom>
          </p:spPr>
        </p:pic>
        <p:pic>
          <p:nvPicPr>
            <p:cNvPr id="37" name="Picture 36" descr="A graph with different colored bars&#10;&#10;Description automatically generated">
              <a:extLst>
                <a:ext uri="{FF2B5EF4-FFF2-40B4-BE49-F238E27FC236}">
                  <a16:creationId xmlns:a16="http://schemas.microsoft.com/office/drawing/2014/main" id="{FA627CAB-DA63-28B4-2A23-AFBBDA6C9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258" t="16289" r="3651" b="13029"/>
            <a:stretch/>
          </p:blipFill>
          <p:spPr>
            <a:xfrm>
              <a:off x="309505" y="5519887"/>
              <a:ext cx="6467695" cy="3180038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565BB86-8733-396A-8635-73399EBF2CAC}"/>
                </a:ext>
              </a:extLst>
            </p:cNvPr>
            <p:cNvSpPr txBox="1"/>
            <p:nvPr/>
          </p:nvSpPr>
          <p:spPr>
            <a:xfrm>
              <a:off x="312919" y="5452016"/>
              <a:ext cx="35779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b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3DAB614-A62A-040C-781B-043EF8D570C6}"/>
                </a:ext>
              </a:extLst>
            </p:cNvPr>
            <p:cNvSpPr txBox="1"/>
            <p:nvPr/>
          </p:nvSpPr>
          <p:spPr>
            <a:xfrm>
              <a:off x="413528" y="177922"/>
              <a:ext cx="3481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6F25BA0-2388-43C7-94BE-D4DB50D81229}"/>
                </a:ext>
              </a:extLst>
            </p:cNvPr>
            <p:cNvSpPr txBox="1"/>
            <p:nvPr/>
          </p:nvSpPr>
          <p:spPr>
            <a:xfrm>
              <a:off x="3273252" y="8734245"/>
              <a:ext cx="3348200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r"/>
              <a:r>
                <a:rPr lang="en-CA" b="1" dirty="0">
                  <a:latin typeface="Roboto Condensed" pitchFamily="2" charset="0"/>
                  <a:ea typeface="Roboto Condensed" pitchFamily="2" charset="0"/>
                </a:rPr>
                <a:t>Newly recorded species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3365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3A930-2443-1800-4D9A-D1919C495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 55">
            <a:extLst>
              <a:ext uri="{FF2B5EF4-FFF2-40B4-BE49-F238E27FC236}">
                <a16:creationId xmlns:a16="http://schemas.microsoft.com/office/drawing/2014/main" id="{6436A836-3051-B4D5-36EB-1A7CB84AA483}"/>
              </a:ext>
            </a:extLst>
          </p:cNvPr>
          <p:cNvGrpSpPr/>
          <p:nvPr/>
        </p:nvGrpSpPr>
        <p:grpSpPr>
          <a:xfrm>
            <a:off x="0" y="0"/>
            <a:ext cx="7157187" cy="9144000"/>
            <a:chOff x="0" y="0"/>
            <a:chExt cx="7157187" cy="914400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A9084E4-2E56-475E-5665-ACEDEF7B491D}"/>
                </a:ext>
              </a:extLst>
            </p:cNvPr>
            <p:cNvGrpSpPr/>
            <p:nvPr/>
          </p:nvGrpSpPr>
          <p:grpSpPr>
            <a:xfrm>
              <a:off x="0" y="0"/>
              <a:ext cx="7157187" cy="9144000"/>
              <a:chOff x="-689" y="0"/>
              <a:chExt cx="7157187" cy="9144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90AEC03-8540-CE6C-8F88-E1A80E2F7BD5}"/>
                  </a:ext>
                </a:extLst>
              </p:cNvPr>
              <p:cNvSpPr/>
              <p:nvPr/>
            </p:nvSpPr>
            <p:spPr>
              <a:xfrm>
                <a:off x="0" y="0"/>
                <a:ext cx="7156498" cy="9144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pic>
            <p:nvPicPr>
              <p:cNvPr id="15" name="Picture 14" descr="A map of canada with different colored dots&#10;&#10;Description automatically generated">
                <a:extLst>
                  <a:ext uri="{FF2B5EF4-FFF2-40B4-BE49-F238E27FC236}">
                    <a16:creationId xmlns:a16="http://schemas.microsoft.com/office/drawing/2014/main" id="{203793AC-96A4-7867-4CF8-35018737A5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744" t="11539" r="21752" b="11957"/>
              <a:stretch/>
            </p:blipFill>
            <p:spPr>
              <a:xfrm>
                <a:off x="307471" y="226603"/>
                <a:ext cx="6125554" cy="5243176"/>
              </a:xfrm>
              <a:prstGeom prst="rect">
                <a:avLst/>
              </a:prstGeom>
            </p:spPr>
          </p:pic>
          <p:pic>
            <p:nvPicPr>
              <p:cNvPr id="16" name="Picture 15" descr="A map of canada with different colored dots&#10;&#10;Description automatically generated">
                <a:extLst>
                  <a:ext uri="{FF2B5EF4-FFF2-40B4-BE49-F238E27FC236}">
                    <a16:creationId xmlns:a16="http://schemas.microsoft.com/office/drawing/2014/main" id="{36EDABF0-6D7E-07D2-00BC-BA16357E5C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82294" t="34757" r="4158" b="33883"/>
              <a:stretch/>
            </p:blipFill>
            <p:spPr>
              <a:xfrm>
                <a:off x="5562857" y="273459"/>
                <a:ext cx="1488499" cy="2756359"/>
              </a:xfrm>
              <a:prstGeom prst="rect">
                <a:avLst/>
              </a:prstGeom>
            </p:spPr>
          </p:pic>
          <p:pic>
            <p:nvPicPr>
              <p:cNvPr id="7" name="Picture 6" descr="A graph with different colored bars&#10;&#10;Description automatically generated">
                <a:extLst>
                  <a:ext uri="{FF2B5EF4-FFF2-40B4-BE49-F238E27FC236}">
                    <a16:creationId xmlns:a16="http://schemas.microsoft.com/office/drawing/2014/main" id="{1F1DC779-1B58-68A0-FE75-41C2982FAC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t="13750" b="13520"/>
              <a:stretch/>
            </p:blipFill>
            <p:spPr>
              <a:xfrm>
                <a:off x="-689" y="5519886"/>
                <a:ext cx="7055238" cy="3180038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86CEB64-D298-9DE4-0905-86090688D8D3}"/>
                  </a:ext>
                </a:extLst>
              </p:cNvPr>
              <p:cNvSpPr txBox="1"/>
              <p:nvPr/>
            </p:nvSpPr>
            <p:spPr>
              <a:xfrm>
                <a:off x="4642593" y="8700594"/>
                <a:ext cx="2133918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CA" sz="1600" b="1" dirty="0">
                    <a:latin typeface="Roboto Condensed" pitchFamily="2" charset="0"/>
                    <a:ea typeface="Roboto Condensed" pitchFamily="2" charset="0"/>
                  </a:rPr>
                  <a:t>Newly recorded species</a:t>
                </a:r>
              </a:p>
            </p:txBody>
          </p:sp>
          <p:pic>
            <p:nvPicPr>
              <p:cNvPr id="4" name="Picture 3" descr="A map of canada with different colored dots&#10;&#10;Description automatically generated">
                <a:extLst>
                  <a:ext uri="{FF2B5EF4-FFF2-40B4-BE49-F238E27FC236}">
                    <a16:creationId xmlns:a16="http://schemas.microsoft.com/office/drawing/2014/main" id="{EA2AA5E3-2431-6E14-8646-F2C6319A25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83327" t="34490" r="2753" b="32364"/>
              <a:stretch/>
            </p:blipFill>
            <p:spPr>
              <a:xfrm>
                <a:off x="5667999" y="274129"/>
                <a:ext cx="1488499" cy="2756359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8A02C20-89FD-62A9-B5ED-F8E9D842E414}"/>
                  </a:ext>
                </a:extLst>
              </p:cNvPr>
              <p:cNvSpPr txBox="1"/>
              <p:nvPr/>
            </p:nvSpPr>
            <p:spPr>
              <a:xfrm>
                <a:off x="164601" y="302145"/>
                <a:ext cx="3481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2400" dirty="0"/>
                  <a:t>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69D2971-03F7-EDBC-C106-05CC2F6B14FE}"/>
                  </a:ext>
                </a:extLst>
              </p:cNvPr>
              <p:cNvSpPr txBox="1"/>
              <p:nvPr/>
            </p:nvSpPr>
            <p:spPr>
              <a:xfrm>
                <a:off x="154983" y="5465549"/>
                <a:ext cx="35779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2400" dirty="0"/>
                  <a:t>b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5DE14D92-1C65-8C2F-2318-6A31BEA31867}"/>
                </a:ext>
              </a:extLst>
            </p:cNvPr>
            <p:cNvSpPr txBox="1"/>
            <p:nvPr/>
          </p:nvSpPr>
          <p:spPr>
            <a:xfrm>
              <a:off x="5932759" y="2008094"/>
              <a:ext cx="1135247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Other Animalia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397D6E9-CDED-BC51-8A65-4F4D9AD76698}"/>
                </a:ext>
              </a:extLst>
            </p:cNvPr>
            <p:cNvSpPr txBox="1"/>
            <p:nvPr/>
          </p:nvSpPr>
          <p:spPr>
            <a:xfrm>
              <a:off x="5932759" y="261233"/>
              <a:ext cx="667170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Reptilia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42F3032-7FC9-F683-D79D-1DD7738998DD}"/>
                </a:ext>
              </a:extLst>
            </p:cNvPr>
            <p:cNvSpPr txBox="1"/>
            <p:nvPr/>
          </p:nvSpPr>
          <p:spPr>
            <a:xfrm>
              <a:off x="5932759" y="521421"/>
              <a:ext cx="497252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Aves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AD3C98B-2143-C88A-BEE1-231CD6315C7D}"/>
                </a:ext>
              </a:extLst>
            </p:cNvPr>
            <p:cNvSpPr txBox="1"/>
            <p:nvPr/>
          </p:nvSpPr>
          <p:spPr>
            <a:xfrm>
              <a:off x="5932759" y="752254"/>
              <a:ext cx="1075936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Actinopterygii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9A19744-52C8-55A3-C67E-DB194788A8AA}"/>
                </a:ext>
              </a:extLst>
            </p:cNvPr>
            <p:cNvSpPr txBox="1"/>
            <p:nvPr/>
          </p:nvSpPr>
          <p:spPr>
            <a:xfrm>
              <a:off x="5932759" y="1010841"/>
              <a:ext cx="769763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Mollusca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39B90F9-515A-E93B-EDC6-4025B65C9569}"/>
                </a:ext>
              </a:extLst>
            </p:cNvPr>
            <p:cNvSpPr txBox="1"/>
            <p:nvPr/>
          </p:nvSpPr>
          <p:spPr>
            <a:xfrm>
              <a:off x="5932759" y="1257338"/>
              <a:ext cx="835485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Arachnida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4675875-E4A8-6C86-6F1A-DA3697D5ADBA}"/>
                </a:ext>
              </a:extLst>
            </p:cNvPr>
            <p:cNvSpPr txBox="1"/>
            <p:nvPr/>
          </p:nvSpPr>
          <p:spPr>
            <a:xfrm>
              <a:off x="5932759" y="1502080"/>
              <a:ext cx="768159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Protozoa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8B2AF8E-B5F4-E9E4-EA99-C635E78B412F}"/>
                </a:ext>
              </a:extLst>
            </p:cNvPr>
            <p:cNvSpPr txBox="1"/>
            <p:nvPr/>
          </p:nvSpPr>
          <p:spPr>
            <a:xfrm>
              <a:off x="5932759" y="1755087"/>
              <a:ext cx="853119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Chromista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624AABB-3968-3CAA-6510-7D3895BBD36E}"/>
                </a:ext>
              </a:extLst>
            </p:cNvPr>
            <p:cNvSpPr txBox="1"/>
            <p:nvPr/>
          </p:nvSpPr>
          <p:spPr>
            <a:xfrm>
              <a:off x="5932759" y="2256323"/>
              <a:ext cx="671979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Plantae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2D3193D-BCAD-6159-14A5-ADE6F5ADFAE4}"/>
                </a:ext>
              </a:extLst>
            </p:cNvPr>
            <p:cNvSpPr txBox="1"/>
            <p:nvPr/>
          </p:nvSpPr>
          <p:spPr>
            <a:xfrm>
              <a:off x="5932759" y="2498792"/>
              <a:ext cx="543739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Fungi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E08AC59-B909-3653-4867-53059358F48F}"/>
                </a:ext>
              </a:extLst>
            </p:cNvPr>
            <p:cNvSpPr txBox="1"/>
            <p:nvPr/>
          </p:nvSpPr>
          <p:spPr>
            <a:xfrm>
              <a:off x="5932759" y="2751307"/>
              <a:ext cx="657552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Insecta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73448A7-4129-B3CA-7751-4D2F0E51E64C}"/>
                </a:ext>
              </a:extLst>
            </p:cNvPr>
            <p:cNvSpPr txBox="1"/>
            <p:nvPr/>
          </p:nvSpPr>
          <p:spPr>
            <a:xfrm>
              <a:off x="5927112" y="2011536"/>
              <a:ext cx="1135247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Other Animalia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2259634-12D7-CB3B-D99A-8182C7BF49DE}"/>
                </a:ext>
              </a:extLst>
            </p:cNvPr>
            <p:cNvSpPr txBox="1"/>
            <p:nvPr/>
          </p:nvSpPr>
          <p:spPr>
            <a:xfrm>
              <a:off x="5927112" y="268487"/>
              <a:ext cx="667170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Reptilia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49BAD10-49AE-CD4F-C351-3B55C8D47425}"/>
                </a:ext>
              </a:extLst>
            </p:cNvPr>
            <p:cNvSpPr txBox="1"/>
            <p:nvPr/>
          </p:nvSpPr>
          <p:spPr>
            <a:xfrm>
              <a:off x="5927112" y="517494"/>
              <a:ext cx="497252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Aves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2DFDC25-1B1B-AE32-8CE5-63714767FFD7}"/>
                </a:ext>
              </a:extLst>
            </p:cNvPr>
            <p:cNvSpPr txBox="1"/>
            <p:nvPr/>
          </p:nvSpPr>
          <p:spPr>
            <a:xfrm>
              <a:off x="5927112" y="766501"/>
              <a:ext cx="1075936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Actinopterygii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DE6199F-FFE3-3C59-3279-A5B9AEE4338A}"/>
                </a:ext>
              </a:extLst>
            </p:cNvPr>
            <p:cNvSpPr txBox="1"/>
            <p:nvPr/>
          </p:nvSpPr>
          <p:spPr>
            <a:xfrm>
              <a:off x="5927112" y="1015508"/>
              <a:ext cx="769763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Mollusca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749414F-B500-24F9-8434-7AAECF7FD200}"/>
                </a:ext>
              </a:extLst>
            </p:cNvPr>
            <p:cNvSpPr txBox="1"/>
            <p:nvPr/>
          </p:nvSpPr>
          <p:spPr>
            <a:xfrm>
              <a:off x="5927112" y="1264515"/>
              <a:ext cx="835485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Arachnida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6571E65-B768-6A78-906F-8FC16B4B9901}"/>
                </a:ext>
              </a:extLst>
            </p:cNvPr>
            <p:cNvSpPr txBox="1"/>
            <p:nvPr/>
          </p:nvSpPr>
          <p:spPr>
            <a:xfrm>
              <a:off x="5927112" y="1513522"/>
              <a:ext cx="768159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Protozoa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C9F696E-CD26-CFE4-DB6E-15ACB3B2E59A}"/>
                </a:ext>
              </a:extLst>
            </p:cNvPr>
            <p:cNvSpPr txBox="1"/>
            <p:nvPr/>
          </p:nvSpPr>
          <p:spPr>
            <a:xfrm>
              <a:off x="5927112" y="1762529"/>
              <a:ext cx="853119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Chromista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B595873-4BFE-7610-22A4-C013DA5A05E7}"/>
                </a:ext>
              </a:extLst>
            </p:cNvPr>
            <p:cNvSpPr txBox="1"/>
            <p:nvPr/>
          </p:nvSpPr>
          <p:spPr>
            <a:xfrm>
              <a:off x="5927112" y="2260543"/>
              <a:ext cx="671979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Plantae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E6B84C1-0DCE-9432-D11C-BAECC980637A}"/>
                </a:ext>
              </a:extLst>
            </p:cNvPr>
            <p:cNvSpPr txBox="1"/>
            <p:nvPr/>
          </p:nvSpPr>
          <p:spPr>
            <a:xfrm>
              <a:off x="5927112" y="2509550"/>
              <a:ext cx="543739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Fungi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2A4E6D5-A0C0-9E3F-D937-9A2738AE2BB1}"/>
                </a:ext>
              </a:extLst>
            </p:cNvPr>
            <p:cNvSpPr txBox="1"/>
            <p:nvPr/>
          </p:nvSpPr>
          <p:spPr>
            <a:xfrm>
              <a:off x="5927112" y="2758561"/>
              <a:ext cx="657552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CA" sz="1300" dirty="0">
                  <a:latin typeface="Roboto Condensed Light" pitchFamily="2" charset="0"/>
                  <a:ea typeface="Roboto Condensed Light" pitchFamily="2" charset="0"/>
                </a:rPr>
                <a:t>Insecta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8CB614E-3354-0747-42C8-FD975613BAB7}"/>
                </a:ext>
              </a:extLst>
            </p:cNvPr>
            <p:cNvSpPr txBox="1"/>
            <p:nvPr/>
          </p:nvSpPr>
          <p:spPr>
            <a:xfrm>
              <a:off x="301396" y="6463261"/>
              <a:ext cx="1530781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r"/>
              <a:r>
                <a:rPr lang="en-CA" sz="1400" dirty="0">
                  <a:latin typeface="Roboto Condensed Light" pitchFamily="2" charset="0"/>
                  <a:ea typeface="Roboto Condensed Light" pitchFamily="2" charset="0"/>
                </a:rPr>
                <a:t>Other Animalia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A0F5B99-6741-2570-378B-A5F33EE6199B}"/>
                </a:ext>
              </a:extLst>
            </p:cNvPr>
            <p:cNvSpPr txBox="1"/>
            <p:nvPr/>
          </p:nvSpPr>
          <p:spPr>
            <a:xfrm>
              <a:off x="1173000" y="8131493"/>
              <a:ext cx="659177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r"/>
              <a:r>
                <a:rPr lang="en-CA" sz="1400" dirty="0">
                  <a:latin typeface="Roboto Condensed Light" pitchFamily="2" charset="0"/>
                  <a:ea typeface="Roboto Condensed Light" pitchFamily="2" charset="0"/>
                </a:rPr>
                <a:t>Aves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863B680-7FC1-82DE-79EB-C2790ACC6898}"/>
                </a:ext>
              </a:extLst>
            </p:cNvPr>
            <p:cNvSpPr txBox="1"/>
            <p:nvPr/>
          </p:nvSpPr>
          <p:spPr>
            <a:xfrm>
              <a:off x="388556" y="7853456"/>
              <a:ext cx="1443621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r"/>
              <a:r>
                <a:rPr lang="en-CA" sz="1400" dirty="0">
                  <a:latin typeface="Roboto Condensed Light" pitchFamily="2" charset="0"/>
                  <a:ea typeface="Roboto Condensed Light" pitchFamily="2" charset="0"/>
                </a:rPr>
                <a:t>Actinopterygii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5FF6E3C-F8DC-A173-42F0-2E8CE7122CBA}"/>
                </a:ext>
              </a:extLst>
            </p:cNvPr>
            <p:cNvSpPr txBox="1"/>
            <p:nvPr/>
          </p:nvSpPr>
          <p:spPr>
            <a:xfrm>
              <a:off x="798007" y="7297378"/>
              <a:ext cx="1034170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r"/>
              <a:r>
                <a:rPr lang="en-CA" sz="1400" dirty="0">
                  <a:latin typeface="Roboto Condensed Light" pitchFamily="2" charset="0"/>
                  <a:ea typeface="Roboto Condensed Light" pitchFamily="2" charset="0"/>
                </a:rPr>
                <a:t>Mollusca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853A98B-D0BB-DB4C-046E-3840BAE5C5EF}"/>
                </a:ext>
              </a:extLst>
            </p:cNvPr>
            <p:cNvSpPr txBox="1"/>
            <p:nvPr/>
          </p:nvSpPr>
          <p:spPr>
            <a:xfrm>
              <a:off x="708820" y="7019339"/>
              <a:ext cx="1123357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r"/>
              <a:r>
                <a:rPr lang="en-CA" sz="1400" dirty="0">
                  <a:latin typeface="Roboto Condensed Light" pitchFamily="2" charset="0"/>
                  <a:ea typeface="Roboto Condensed Light" pitchFamily="2" charset="0"/>
                </a:rPr>
                <a:t>Arachnida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6E8F8C97-6EAC-8B3F-ECC5-28B10A88E217}"/>
                </a:ext>
              </a:extLst>
            </p:cNvPr>
            <p:cNvSpPr txBox="1"/>
            <p:nvPr/>
          </p:nvSpPr>
          <p:spPr>
            <a:xfrm>
              <a:off x="804089" y="7575417"/>
              <a:ext cx="1028088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r"/>
              <a:r>
                <a:rPr lang="en-CA" sz="1400" dirty="0">
                  <a:latin typeface="Roboto Condensed Light" pitchFamily="2" charset="0"/>
                  <a:ea typeface="Roboto Condensed Light" pitchFamily="2" charset="0"/>
                </a:rPr>
                <a:t>Protozoa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C9EFEF6-4051-3AB0-6172-EEC47A0F43F3}"/>
                </a:ext>
              </a:extLst>
            </p:cNvPr>
            <p:cNvSpPr txBox="1"/>
            <p:nvPr/>
          </p:nvSpPr>
          <p:spPr>
            <a:xfrm>
              <a:off x="686524" y="6741300"/>
              <a:ext cx="1145653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r"/>
              <a:r>
                <a:rPr lang="en-CA" sz="1400" dirty="0">
                  <a:latin typeface="Roboto Condensed Light" pitchFamily="2" charset="0"/>
                  <a:ea typeface="Roboto Condensed Light" pitchFamily="2" charset="0"/>
                </a:rPr>
                <a:t>Chromista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AEAD868-7AA6-BBC2-0809-8410728D7DFE}"/>
                </a:ext>
              </a:extLst>
            </p:cNvPr>
            <p:cNvSpPr txBox="1"/>
            <p:nvPr/>
          </p:nvSpPr>
          <p:spPr>
            <a:xfrm>
              <a:off x="935843" y="5907183"/>
              <a:ext cx="896334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r"/>
              <a:r>
                <a:rPr lang="en-CA" sz="1400" dirty="0">
                  <a:latin typeface="Roboto Condensed Light" pitchFamily="2" charset="0"/>
                  <a:ea typeface="Roboto Condensed Light" pitchFamily="2" charset="0"/>
                </a:rPr>
                <a:t>Plantae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9CE1C46-8C24-0EEC-0B64-65DEF7FDC049}"/>
                </a:ext>
              </a:extLst>
            </p:cNvPr>
            <p:cNvSpPr txBox="1"/>
            <p:nvPr/>
          </p:nvSpPr>
          <p:spPr>
            <a:xfrm>
              <a:off x="1110164" y="6185222"/>
              <a:ext cx="722013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r"/>
              <a:r>
                <a:rPr lang="en-CA" sz="1400" dirty="0">
                  <a:latin typeface="Roboto Condensed Light" pitchFamily="2" charset="0"/>
                  <a:ea typeface="Roboto Condensed Light" pitchFamily="2" charset="0"/>
                </a:rPr>
                <a:t>Fungi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9AE2C10-D94E-A603-4F0C-CA8CE5D1E5AB}"/>
                </a:ext>
              </a:extLst>
            </p:cNvPr>
            <p:cNvSpPr txBox="1"/>
            <p:nvPr/>
          </p:nvSpPr>
          <p:spPr>
            <a:xfrm>
              <a:off x="954086" y="5629144"/>
              <a:ext cx="878091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r"/>
              <a:r>
                <a:rPr lang="en-CA" sz="1400" dirty="0">
                  <a:latin typeface="Roboto Condensed Light" pitchFamily="2" charset="0"/>
                  <a:ea typeface="Roboto Condensed Light" pitchFamily="2" charset="0"/>
                </a:rPr>
                <a:t>Insecta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90647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FAC7C67C-241B-F80D-5303-5FCE1E5F93F3}"/>
              </a:ext>
            </a:extLst>
          </p:cNvPr>
          <p:cNvGrpSpPr/>
          <p:nvPr/>
        </p:nvGrpSpPr>
        <p:grpSpPr>
          <a:xfrm>
            <a:off x="0" y="604684"/>
            <a:ext cx="6858000" cy="8539316"/>
            <a:chOff x="0" y="604684"/>
            <a:chExt cx="6858000" cy="853931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08D2C0A-9CBC-FA2C-F570-76343E256B72}"/>
                </a:ext>
              </a:extLst>
            </p:cNvPr>
            <p:cNvSpPr/>
            <p:nvPr/>
          </p:nvSpPr>
          <p:spPr>
            <a:xfrm>
              <a:off x="0" y="604684"/>
              <a:ext cx="6858000" cy="85393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4" name="Picture 3" descr="A map of canada with different colored dots&#10;&#10;Description automatically generated">
              <a:extLst>
                <a:ext uri="{FF2B5EF4-FFF2-40B4-BE49-F238E27FC236}">
                  <a16:creationId xmlns:a16="http://schemas.microsoft.com/office/drawing/2014/main" id="{4D3509D7-9290-A44A-6CF5-248DB5D97F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2390" t="32981" r="2753" b="29718"/>
            <a:stretch/>
          </p:blipFill>
          <p:spPr>
            <a:xfrm>
              <a:off x="374336" y="5174796"/>
              <a:ext cx="1755487" cy="3526062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30E172B-EF72-A05D-EA1B-7859D8E78EC8}"/>
                </a:ext>
              </a:extLst>
            </p:cNvPr>
            <p:cNvGrpSpPr/>
            <p:nvPr/>
          </p:nvGrpSpPr>
          <p:grpSpPr>
            <a:xfrm>
              <a:off x="0" y="774916"/>
              <a:ext cx="6858000" cy="4630713"/>
              <a:chOff x="0" y="774916"/>
              <a:chExt cx="6858000" cy="4630713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9644A89B-5551-DE8B-F4ED-CEA0E7625D94}"/>
                  </a:ext>
                </a:extLst>
              </p:cNvPr>
              <p:cNvGrpSpPr/>
              <p:nvPr/>
            </p:nvGrpSpPr>
            <p:grpSpPr>
              <a:xfrm>
                <a:off x="0" y="774916"/>
                <a:ext cx="6858000" cy="3661269"/>
                <a:chOff x="0" y="774916"/>
                <a:chExt cx="6858000" cy="3661269"/>
              </a:xfrm>
            </p:grpSpPr>
            <p:pic>
              <p:nvPicPr>
                <p:cNvPr id="5" name="Picture 4" descr="A graph with different colored bars&#10;&#10;Description automatically generated">
                  <a:extLst>
                    <a:ext uri="{FF2B5EF4-FFF2-40B4-BE49-F238E27FC236}">
                      <a16:creationId xmlns:a16="http://schemas.microsoft.com/office/drawing/2014/main" id="{8F0A833E-B391-6217-3E71-8CC97ED879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t="13857"/>
                <a:stretch/>
              </p:blipFill>
              <p:spPr>
                <a:xfrm>
                  <a:off x="0" y="774916"/>
                  <a:ext cx="6858000" cy="3661269"/>
                </a:xfrm>
                <a:prstGeom prst="rect">
                  <a:avLst/>
                </a:prstGeom>
              </p:spPr>
            </p:pic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A60379B-BEC0-B422-3EDA-5F5194580F8B}"/>
                    </a:ext>
                  </a:extLst>
                </p:cNvPr>
                <p:cNvSpPr txBox="1"/>
                <p:nvPr/>
              </p:nvSpPr>
              <p:spPr>
                <a:xfrm>
                  <a:off x="3760339" y="3869414"/>
                  <a:ext cx="2799164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lang="en-CA" sz="1600" b="1" dirty="0">
                      <a:latin typeface="Roboto Condensed" pitchFamily="2" charset="0"/>
                      <a:ea typeface="Roboto Condensed" pitchFamily="2" charset="0"/>
                    </a:rPr>
                    <a:t>Newly recorded species in 2025</a:t>
                  </a:r>
                </a:p>
              </p:txBody>
            </p:sp>
          </p:grp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D747F8C-EF6E-39AC-1A01-4DC4A54E0552}"/>
                  </a:ext>
                </a:extLst>
              </p:cNvPr>
              <p:cNvSpPr txBox="1"/>
              <p:nvPr/>
            </p:nvSpPr>
            <p:spPr>
              <a:xfrm>
                <a:off x="154983" y="774916"/>
                <a:ext cx="3481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2400" dirty="0"/>
                  <a:t>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DB09D44-C400-ACED-2D14-BF8E0978FF61}"/>
                  </a:ext>
                </a:extLst>
              </p:cNvPr>
              <p:cNvSpPr txBox="1"/>
              <p:nvPr/>
            </p:nvSpPr>
            <p:spPr>
              <a:xfrm>
                <a:off x="154983" y="4943964"/>
                <a:ext cx="35779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2400" dirty="0"/>
                  <a:t>b</a:t>
                </a:r>
              </a:p>
            </p:txBody>
          </p:sp>
        </p:grpSp>
        <p:pic>
          <p:nvPicPr>
            <p:cNvPr id="3" name="Picture 2" descr="A map of canada with different colored dots&#10;&#10;Description automatically generated">
              <a:extLst>
                <a:ext uri="{FF2B5EF4-FFF2-40B4-BE49-F238E27FC236}">
                  <a16:creationId xmlns:a16="http://schemas.microsoft.com/office/drawing/2014/main" id="{6B806FE4-76CC-E4AB-BE5B-52B01DDC74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477" t="12097" r="22580" b="12097"/>
            <a:stretch/>
          </p:blipFill>
          <p:spPr>
            <a:xfrm>
              <a:off x="1885812" y="4707816"/>
              <a:ext cx="4817205" cy="417687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65625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7E9C-E6FE-43FA-992E-A1F9FEA47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19FBC6BA-3480-D6E9-8FDA-5475E2059D1C}"/>
              </a:ext>
            </a:extLst>
          </p:cNvPr>
          <p:cNvGrpSpPr/>
          <p:nvPr/>
        </p:nvGrpSpPr>
        <p:grpSpPr>
          <a:xfrm>
            <a:off x="0" y="0"/>
            <a:ext cx="7156498" cy="9144000"/>
            <a:chOff x="0" y="0"/>
            <a:chExt cx="7156498" cy="9144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F1248A5-71CE-EEFB-AA79-8E81E9F74AC3}"/>
                </a:ext>
              </a:extLst>
            </p:cNvPr>
            <p:cNvSpPr/>
            <p:nvPr/>
          </p:nvSpPr>
          <p:spPr>
            <a:xfrm>
              <a:off x="0" y="0"/>
              <a:ext cx="7156498" cy="914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23461D6-8C5B-3FA5-AB3C-7B6A520DD636}"/>
                </a:ext>
              </a:extLst>
            </p:cNvPr>
            <p:cNvGrpSpPr/>
            <p:nvPr/>
          </p:nvGrpSpPr>
          <p:grpSpPr>
            <a:xfrm>
              <a:off x="0" y="774916"/>
              <a:ext cx="6858000" cy="8315039"/>
              <a:chOff x="0" y="774916"/>
              <a:chExt cx="6858000" cy="8315039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89B4581D-22E1-09FB-CE3E-0A21C5E34726}"/>
                  </a:ext>
                </a:extLst>
              </p:cNvPr>
              <p:cNvGrpSpPr/>
              <p:nvPr/>
            </p:nvGrpSpPr>
            <p:grpSpPr>
              <a:xfrm>
                <a:off x="0" y="5428686"/>
                <a:ext cx="6858000" cy="3661269"/>
                <a:chOff x="0" y="5428686"/>
                <a:chExt cx="6858000" cy="3661269"/>
              </a:xfrm>
            </p:grpSpPr>
            <p:pic>
              <p:nvPicPr>
                <p:cNvPr id="5" name="Picture 4" descr="A graph with different colored bars&#10;&#10;Description automatically generated">
                  <a:extLst>
                    <a:ext uri="{FF2B5EF4-FFF2-40B4-BE49-F238E27FC236}">
                      <a16:creationId xmlns:a16="http://schemas.microsoft.com/office/drawing/2014/main" id="{C85D9ABE-1AB0-B4EF-3139-32BD50268D1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t="13857"/>
                <a:stretch/>
              </p:blipFill>
              <p:spPr>
                <a:xfrm>
                  <a:off x="0" y="5428686"/>
                  <a:ext cx="6858000" cy="3661269"/>
                </a:xfrm>
                <a:prstGeom prst="rect">
                  <a:avLst/>
                </a:prstGeom>
              </p:spPr>
            </p:pic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FCD5895-215E-B245-B1F8-470B38B85146}"/>
                    </a:ext>
                  </a:extLst>
                </p:cNvPr>
                <p:cNvSpPr txBox="1"/>
                <p:nvPr/>
              </p:nvSpPr>
              <p:spPr>
                <a:xfrm>
                  <a:off x="3781345" y="8507197"/>
                  <a:ext cx="2799164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lang="en-CA" sz="1600" b="1" dirty="0">
                      <a:latin typeface="Roboto Condensed" pitchFamily="2" charset="0"/>
                      <a:ea typeface="Roboto Condensed" pitchFamily="2" charset="0"/>
                    </a:rPr>
                    <a:t>Newly recorded species in 2025</a:t>
                  </a:r>
                </a:p>
              </p:txBody>
            </p:sp>
          </p:grp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5043B77-EFCD-5A11-E759-1B3D45D517F5}"/>
                  </a:ext>
                </a:extLst>
              </p:cNvPr>
              <p:cNvSpPr txBox="1"/>
              <p:nvPr/>
            </p:nvSpPr>
            <p:spPr>
              <a:xfrm>
                <a:off x="154983" y="774916"/>
                <a:ext cx="3481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2400" dirty="0"/>
                  <a:t>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36034AF-40BE-04E8-239F-8AFA6294F7B9}"/>
                  </a:ext>
                </a:extLst>
              </p:cNvPr>
              <p:cNvSpPr txBox="1"/>
              <p:nvPr/>
            </p:nvSpPr>
            <p:spPr>
              <a:xfrm>
                <a:off x="154983" y="4943964"/>
                <a:ext cx="35779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2400" dirty="0"/>
                  <a:t>b</a:t>
                </a:r>
              </a:p>
            </p:txBody>
          </p:sp>
        </p:grpSp>
        <p:pic>
          <p:nvPicPr>
            <p:cNvPr id="3" name="Picture 2" descr="A map of canada with different colored dots&#10;&#10;Description automatically generated">
              <a:extLst>
                <a:ext uri="{FF2B5EF4-FFF2-40B4-BE49-F238E27FC236}">
                  <a16:creationId xmlns:a16="http://schemas.microsoft.com/office/drawing/2014/main" id="{6E664AE0-AF60-C6E6-8C2C-27A8ED62DC3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477" t="12097" r="22580" b="12097"/>
            <a:stretch/>
          </p:blipFill>
          <p:spPr>
            <a:xfrm>
              <a:off x="423597" y="195010"/>
              <a:ext cx="6009428" cy="5210619"/>
            </a:xfrm>
            <a:prstGeom prst="rect">
              <a:avLst/>
            </a:prstGeom>
          </p:spPr>
        </p:pic>
        <p:pic>
          <p:nvPicPr>
            <p:cNvPr id="4" name="Picture 3" descr="A map of canada with different colored dots&#10;&#10;Description automatically generated">
              <a:extLst>
                <a:ext uri="{FF2B5EF4-FFF2-40B4-BE49-F238E27FC236}">
                  <a16:creationId xmlns:a16="http://schemas.microsoft.com/office/drawing/2014/main" id="{64B36A06-37B6-C0B8-E912-E308B91116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327" t="34490" r="2753" b="32364"/>
            <a:stretch/>
          </p:blipFill>
          <p:spPr>
            <a:xfrm>
              <a:off x="5709552" y="298249"/>
              <a:ext cx="1446946" cy="27563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683989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109</TotalTime>
  <Words>59</Words>
  <Application>Microsoft Macintosh PowerPoint</Application>
  <PresentationFormat>On-screen Show (4:3)</PresentationFormat>
  <Paragraphs>44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Roboto Condensed</vt:lpstr>
      <vt:lpstr>Roboto Condensed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Katherine Hébert</dc:creator>
  <cp:lastModifiedBy>Katherine Hébert</cp:lastModifiedBy>
  <cp:revision>6</cp:revision>
  <dcterms:created xsi:type="dcterms:W3CDTF">2026-03-20T19:03:59Z</dcterms:created>
  <dcterms:modified xsi:type="dcterms:W3CDTF">2026-06-10T19:20:20Z</dcterms:modified>
</cp:coreProperties>
</file>