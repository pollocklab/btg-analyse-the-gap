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1" r:id="rId2"/>
    <p:sldId id="262" r:id="rId3"/>
    <p:sldId id="263" r:id="rId4"/>
    <p:sldId id="260" r:id="rId5"/>
    <p:sldId id="259" r:id="rId6"/>
    <p:sldId id="258" r:id="rId7"/>
    <p:sldId id="25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2"/>
    <p:restoredTop sz="94830"/>
  </p:normalViewPr>
  <p:slideViewPr>
    <p:cSldViewPr snapToGrid="0">
      <p:cViewPr>
        <p:scale>
          <a:sx n="33" d="100"/>
          <a:sy n="33" d="100"/>
        </p:scale>
        <p:origin x="3568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D2418-4917-7546-93DC-DC17F4B3C1F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DAC2A-DA31-844B-A375-64D1B761731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440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7388C-49E6-352C-7BEB-510253C47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AD0E2-C65C-D3A3-D9D2-112E199E05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D0C6FB-7AEA-C4FD-ADF5-5158E65CAB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SI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A1310-07B4-D5C8-98F3-170783874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DAC2A-DA31-844B-A375-64D1B761731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8603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C6534-287C-B59B-80B8-D4705B03F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0E66B-973D-B4C9-44A7-C12EF7B8A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EA229-30E6-C4A1-25BF-65C1D47EF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SI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59ED4-702E-979A-6B24-CBFCECB17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DAC2A-DA31-844B-A375-64D1B761731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9818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2D89-9CAC-A94E-AB7E-DF2530F49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EB0C29-3384-5424-1040-CCD457173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784F0-C45B-6ED7-F22F-09DB2C50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FBA22-0765-0A89-4940-FA06E979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D6A5-7608-F13E-5B59-0F31A1F99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251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6CF8-C324-44B5-19F9-89DD6D191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3FFBE-DFED-17AF-0B91-8C8E22E26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27624-04C3-9502-E848-115D6CCC4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E0DE-D9E5-D1C1-E196-C032B334D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DBC8E-164E-EF15-7412-C8954DD2C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5194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9AFA-F244-B892-892E-54E6766F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36396-C4F3-ED63-9F88-A31430CBB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E8EF5-2EC0-48E2-2035-E3E451683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D0310-77EE-800C-5DE7-CA37FF560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E4797-9651-EF6D-6437-FC72143B0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2217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9B6D-5E6B-1282-C15B-6570CA736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CFD7C-DF3D-2F30-ED66-FF2A6CD37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23D34-8C8A-EAD7-BB6B-F0D143793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6B54A-EA52-633C-9FAA-7488757E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81BF8-3396-A437-58CA-C83E8CF76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4FDC6B-D705-6BE8-5F0A-061FD706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471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8FB9D-7166-0408-8381-C5E2D2F7C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FF190-771E-0729-6426-560F88B0F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7DC16-7571-5275-1248-C174CB7176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F8A44D-1595-DB3F-1E14-328EE01C4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89A0B-49C2-1B58-F090-019ABEAD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3936A-B7EB-FB20-4472-21EF5E2F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2DEE14-B03F-4C60-3ED8-CB3CE43C9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2A84C-C62E-3D9F-1862-13C5482D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6748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B227-43B8-75D1-4F91-7F04ADC5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31E4D-F9ED-D9F4-B947-0AF905CA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3C976-22A8-2986-33F3-70A1EFBF0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3307C-5477-32B3-F79E-6A6C77FD4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521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5BC51E-598A-0173-582C-954A96AED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227B1-B381-57A6-4410-EF2AE7510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35B63-BCFB-500D-C05B-EB19CE8C3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268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BFEA0-1408-9D14-56CE-0F4F6910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FCD28-69F7-5E44-7E3B-272BCC6C6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E68F0-658B-25EC-8D1B-8EDFE7F83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6EB37-2DE8-3CDF-F5D5-F6C8260D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FDCAF-6C7F-E8B1-7E84-A3D50C3A5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E54BCC-03D7-B0F8-3E65-AE99F25D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347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6EB4-9936-38D3-DA4A-FC626627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5A0A2D-AD6B-7D21-E60D-3F07CD129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1FF3CA-DCC4-A3C3-C03A-A31FF061A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A5955-DFA4-75DC-E113-874D935A2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E14A0-AFC0-9EED-36D2-0629183D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698D7-5E84-D548-D507-3B359866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564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08475-C4C1-20C0-D340-BE3A80C85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3784D-721E-077A-9D80-F2F99D046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24DCD-1DA7-B064-FC58-3CA3882C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A7574-CDE8-D562-D1D8-E87B789EA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E1018-4760-2B37-247F-EE440CEC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009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12509-EA79-8A12-655A-53A578289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6474CB-9976-FE50-E707-C1A0CD52C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C5636-551E-84F0-564F-2B1ECC44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7F807-E9C3-A833-15DF-AE3DF9D3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1ED99-00DF-4D5D-4A22-5D47B1AC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62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3787E6-76D6-A202-1265-5ADCE744C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D40D7-A69F-B4ED-243D-7A51BEFF1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23A32-8CEA-A4F3-5C16-C9E95D1C8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B4ECC6-0683-4148-99E6-87DFB0CAA85B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71337-1B95-3C64-C1C5-119A2AB53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6DA5C-D487-A144-57AC-64621FB00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D0EFD3-740C-E64B-812C-E0AD764C4DE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826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D4D3E0B4-5947-89D9-1B39-98A19CAFB015}"/>
              </a:ext>
            </a:extLst>
          </p:cNvPr>
          <p:cNvGrpSpPr/>
          <p:nvPr/>
        </p:nvGrpSpPr>
        <p:grpSpPr>
          <a:xfrm>
            <a:off x="0" y="-401782"/>
            <a:ext cx="12192000" cy="7121236"/>
            <a:chOff x="0" y="-443344"/>
            <a:chExt cx="12192000" cy="712123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35B8610-D3E8-F0E4-2893-F9BB792329F9}"/>
                </a:ext>
              </a:extLst>
            </p:cNvPr>
            <p:cNvSpPr/>
            <p:nvPr/>
          </p:nvSpPr>
          <p:spPr>
            <a:xfrm>
              <a:off x="0" y="-443344"/>
              <a:ext cx="12192000" cy="71212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CE847AB-0642-CAAF-482C-E87C78E84D75}"/>
                </a:ext>
              </a:extLst>
            </p:cNvPr>
            <p:cNvGrpSpPr/>
            <p:nvPr/>
          </p:nvGrpSpPr>
          <p:grpSpPr>
            <a:xfrm>
              <a:off x="226186" y="-321752"/>
              <a:ext cx="11965814" cy="6788710"/>
              <a:chOff x="226186" y="-321752"/>
              <a:chExt cx="11965814" cy="6788710"/>
            </a:xfrm>
          </p:grpSpPr>
          <p:pic>
            <p:nvPicPr>
              <p:cNvPr id="7" name="Picture 6" descr="A map of canada with different colors&#10;&#10;Description automatically generated">
                <a:extLst>
                  <a:ext uri="{FF2B5EF4-FFF2-40B4-BE49-F238E27FC236}">
                    <a16:creationId xmlns:a16="http://schemas.microsoft.com/office/drawing/2014/main" id="{D2F69B96-847E-8808-2DF1-20D405EEDA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30829" t="23524" r="21551" b="9234"/>
              <a:stretch/>
            </p:blipFill>
            <p:spPr>
              <a:xfrm>
                <a:off x="226186" y="828393"/>
                <a:ext cx="6243390" cy="5563961"/>
              </a:xfrm>
              <a:prstGeom prst="rect">
                <a:avLst/>
              </a:prstGeom>
            </p:spPr>
          </p:pic>
          <p:pic>
            <p:nvPicPr>
              <p:cNvPr id="8" name="Picture 7" descr="A graph of a temperature&#10;&#10;Description automatically generated">
                <a:extLst>
                  <a:ext uri="{FF2B5EF4-FFF2-40B4-BE49-F238E27FC236}">
                    <a16:creationId xmlns:a16="http://schemas.microsoft.com/office/drawing/2014/main" id="{B02599FF-B19D-53A8-0D75-972EA0CB1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8808" t="6643" r="2897" b="88577"/>
              <a:stretch/>
            </p:blipFill>
            <p:spPr>
              <a:xfrm>
                <a:off x="1365293" y="151217"/>
                <a:ext cx="10826707" cy="650724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11B309-9A26-A859-953C-D5F9FD8046D9}"/>
                  </a:ext>
                </a:extLst>
              </p:cNvPr>
              <p:cNvSpPr txBox="1"/>
              <p:nvPr/>
            </p:nvSpPr>
            <p:spPr>
              <a:xfrm>
                <a:off x="11253104" y="245674"/>
                <a:ext cx="636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b="1" dirty="0">
                    <a:ln w="3175">
                      <a:noFill/>
                    </a:ln>
                    <a:latin typeface="ROBOTO CONDENSED LIGHT" pitchFamily="2" charset="0"/>
                    <a:ea typeface="ROBOTO CONDENSED LIGHT" pitchFamily="2" charset="0"/>
                  </a:rPr>
                  <a:t>Full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033BC79-E099-83B2-D2CB-ECF4CCDDFF72}"/>
                  </a:ext>
                </a:extLst>
              </p:cNvPr>
              <p:cNvSpPr txBox="1"/>
              <p:nvPr/>
            </p:nvSpPr>
            <p:spPr>
              <a:xfrm>
                <a:off x="1581094" y="235692"/>
                <a:ext cx="76976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b="1" dirty="0">
                    <a:ln w="3175">
                      <a:noFill/>
                    </a:ln>
                    <a:latin typeface="ROBOTO CONDENSED LIGHT" pitchFamily="2" charset="0"/>
                    <a:ea typeface="ROBOTO CONDENSED LIGHT" pitchFamily="2" charset="0"/>
                  </a:rPr>
                  <a:t>Poor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03688A-0320-9801-FFCC-C3DDB3E147E9}"/>
                  </a:ext>
                </a:extLst>
              </p:cNvPr>
              <p:cNvSpPr txBox="1"/>
              <p:nvPr/>
            </p:nvSpPr>
            <p:spPr>
              <a:xfrm>
                <a:off x="5981473" y="245674"/>
                <a:ext cx="137569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b="1" dirty="0">
                    <a:ln w="3175">
                      <a:noFill/>
                    </a:ln>
                    <a:latin typeface="ROBOTO CONDENSED LIGHT" pitchFamily="2" charset="0"/>
                    <a:ea typeface="ROBOTO CONDENSED LIGHT" pitchFamily="2" charset="0"/>
                  </a:rPr>
                  <a:t>Moderate</a:t>
                </a:r>
              </a:p>
            </p:txBody>
          </p:sp>
          <p:pic>
            <p:nvPicPr>
              <p:cNvPr id="18" name="Picture 17" descr="A graph of a temperature&#10;&#10;Description automatically generated">
                <a:extLst>
                  <a:ext uri="{FF2B5EF4-FFF2-40B4-BE49-F238E27FC236}">
                    <a16:creationId xmlns:a16="http://schemas.microsoft.com/office/drawing/2014/main" id="{7474DB04-A0B2-930D-34A7-38757BEE29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56961" t="60758" r="38021" b="35842"/>
              <a:stretch/>
            </p:blipFill>
            <p:spPr>
              <a:xfrm>
                <a:off x="478266" y="251719"/>
                <a:ext cx="1000800" cy="449573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85D624-DA49-08C0-7953-F1433A6A07C6}"/>
                  </a:ext>
                </a:extLst>
              </p:cNvPr>
              <p:cNvSpPr txBox="1"/>
              <p:nvPr/>
            </p:nvSpPr>
            <p:spPr>
              <a:xfrm>
                <a:off x="535315" y="235692"/>
                <a:ext cx="8386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2400" b="1" dirty="0">
                    <a:ln w="3175">
                      <a:noFill/>
                    </a:ln>
                    <a:latin typeface="ROBOTO CONDENSED LIGHT" pitchFamily="2" charset="0"/>
                    <a:ea typeface="ROBOTO CONDENSED LIGHT" pitchFamily="2" charset="0"/>
                  </a:rPr>
                  <a:t>None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6486B53-D6FC-BD36-F4F3-01844CAE9CB4}"/>
                  </a:ext>
                </a:extLst>
              </p:cNvPr>
              <p:cNvSpPr txBox="1"/>
              <p:nvPr/>
            </p:nvSpPr>
            <p:spPr>
              <a:xfrm>
                <a:off x="413201" y="-321752"/>
                <a:ext cx="3779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800" b="1" dirty="0">
                    <a:latin typeface="Roboto Condensed" pitchFamily="2" charset="0"/>
                    <a:ea typeface="Roboto Condensed" pitchFamily="2" charset="0"/>
                  </a:rPr>
                  <a:t>Climate coverage</a:t>
                </a:r>
              </a:p>
            </p:txBody>
          </p:sp>
          <p:pic>
            <p:nvPicPr>
              <p:cNvPr id="25" name="Picture 24" descr="A graph of a temperature&#10;&#10;Description automatically generated">
                <a:extLst>
                  <a:ext uri="{FF2B5EF4-FFF2-40B4-BE49-F238E27FC236}">
                    <a16:creationId xmlns:a16="http://schemas.microsoft.com/office/drawing/2014/main" id="{F4056E58-428C-339F-25AD-2F6DF91D43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9849" t="16175" r="3899" b="4260"/>
              <a:stretch/>
            </p:blipFill>
            <p:spPr>
              <a:xfrm>
                <a:off x="6669322" y="1010353"/>
                <a:ext cx="5441499" cy="5456605"/>
              </a:xfrm>
              <a:prstGeom prst="rect">
                <a:avLst/>
              </a:prstGeom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F038F40-313F-9F15-126E-0E3A273E2553}"/>
                  </a:ext>
                </a:extLst>
              </p:cNvPr>
              <p:cNvSpPr txBox="1"/>
              <p:nvPr/>
            </p:nvSpPr>
            <p:spPr>
              <a:xfrm>
                <a:off x="8129822" y="3230796"/>
                <a:ext cx="15081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2000" dirty="0">
                    <a:latin typeface="Roboto Condensed Light" pitchFamily="2" charset="0"/>
                    <a:ea typeface="Roboto Condensed Light" pitchFamily="2" charset="0"/>
                  </a:rPr>
                  <a:t>Not sampled during BTG</a:t>
                </a:r>
                <a:endParaRPr lang="en-CA" sz="2000" dirty="0">
                  <a:latin typeface="Roboto Condensed Light" pitchFamily="2" charset="0"/>
                  <a:ea typeface="Roboto Condensed Light" pitchFamily="2" charset="0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AC563ACE-F444-C8EA-A09C-CB550A15AF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3355" y="3938682"/>
                <a:ext cx="374754" cy="31171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2" name="Picture 31" descr="A graph of a temperature&#10;&#10;Description automatically generated">
                <a:extLst>
                  <a:ext uri="{FF2B5EF4-FFF2-40B4-BE49-F238E27FC236}">
                    <a16:creationId xmlns:a16="http://schemas.microsoft.com/office/drawing/2014/main" id="{EE54CD83-8DB4-6B7E-2BCC-2633BF0823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2248" t="16175" r="90469" b="46150"/>
              <a:stretch/>
            </p:blipFill>
            <p:spPr>
              <a:xfrm>
                <a:off x="6167771" y="1154909"/>
                <a:ext cx="459491" cy="2583746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F037A0F-8D94-818E-AFDD-F5C76A7C53F7}"/>
                  </a:ext>
                </a:extLst>
              </p:cNvPr>
              <p:cNvSpPr txBox="1"/>
              <p:nvPr/>
            </p:nvSpPr>
            <p:spPr>
              <a:xfrm>
                <a:off x="445347" y="975139"/>
                <a:ext cx="41069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b="1" dirty="0">
                    <a:ln w="3175">
                      <a:noFill/>
                    </a:ln>
                    <a:latin typeface="ROBOTO CONDENSED LIGHT" pitchFamily="2" charset="0"/>
                    <a:ea typeface="ROBOTO CONDENSED LIGHT" pitchFamily="2" charset="0"/>
                  </a:rPr>
                  <a:t>a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13F5253-0D89-4ABB-3355-8B6E3273A2B9}"/>
                  </a:ext>
                </a:extLst>
              </p:cNvPr>
              <p:cNvSpPr txBox="1"/>
              <p:nvPr/>
            </p:nvSpPr>
            <p:spPr>
              <a:xfrm>
                <a:off x="5772121" y="975139"/>
                <a:ext cx="418704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CA" sz="3600" b="1" dirty="0">
                    <a:ln w="3175">
                      <a:noFill/>
                    </a:ln>
                    <a:latin typeface="ROBOTO CONDENSED LIGHT" pitchFamily="2" charset="0"/>
                    <a:ea typeface="ROBOTO CONDENSED LIGHT" pitchFamily="2" charset="0"/>
                  </a:rPr>
                  <a:t>b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174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997C-4E66-2889-A540-78B5723D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78A8329-7DDA-A24A-2B27-79825651A20F}"/>
              </a:ext>
            </a:extLst>
          </p:cNvPr>
          <p:cNvGrpSpPr/>
          <p:nvPr/>
        </p:nvGrpSpPr>
        <p:grpSpPr>
          <a:xfrm>
            <a:off x="-15367" y="-401782"/>
            <a:ext cx="12207367" cy="7121236"/>
            <a:chOff x="-15367" y="-401782"/>
            <a:chExt cx="12207367" cy="712123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51D1A36-D652-0641-5187-DEAB054DC707}"/>
                </a:ext>
              </a:extLst>
            </p:cNvPr>
            <p:cNvSpPr/>
            <p:nvPr/>
          </p:nvSpPr>
          <p:spPr>
            <a:xfrm>
              <a:off x="0" y="-401782"/>
              <a:ext cx="12192000" cy="71212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9" name="Picture 8" descr="A graph of a temperature&#10;&#10;Description automatically generated with medium confidence">
              <a:extLst>
                <a:ext uri="{FF2B5EF4-FFF2-40B4-BE49-F238E27FC236}">
                  <a16:creationId xmlns:a16="http://schemas.microsoft.com/office/drawing/2014/main" id="{31A01363-82B8-2209-0D27-B0228C1BD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283" t="15465" r="3283" b="2811"/>
            <a:stretch/>
          </p:blipFill>
          <p:spPr>
            <a:xfrm>
              <a:off x="5936517" y="1032889"/>
              <a:ext cx="5894709" cy="5604623"/>
            </a:xfrm>
            <a:prstGeom prst="rect">
              <a:avLst/>
            </a:prstGeom>
          </p:spPr>
        </p:pic>
        <p:pic>
          <p:nvPicPr>
            <p:cNvPr id="8" name="Picture 7" descr="A graph of a temperature&#10;&#10;Description automatically generated">
              <a:extLst>
                <a:ext uri="{FF2B5EF4-FFF2-40B4-BE49-F238E27FC236}">
                  <a16:creationId xmlns:a16="http://schemas.microsoft.com/office/drawing/2014/main" id="{6E0B2D5A-D3DE-8906-07BF-1A5C70ECC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8808" t="6643" r="2897" b="88577"/>
            <a:stretch/>
          </p:blipFill>
          <p:spPr>
            <a:xfrm>
              <a:off x="1365293" y="192779"/>
              <a:ext cx="10826707" cy="650724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D1C5B7-079D-3901-BD47-EE45955AF4BC}"/>
                </a:ext>
              </a:extLst>
            </p:cNvPr>
            <p:cNvSpPr txBox="1"/>
            <p:nvPr/>
          </p:nvSpPr>
          <p:spPr>
            <a:xfrm>
              <a:off x="11253104" y="287236"/>
              <a:ext cx="6367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b="1" dirty="0">
                  <a:ln w="3175">
                    <a:noFill/>
                  </a:ln>
                  <a:latin typeface="ROBOTO CONDENSED LIGHT" pitchFamily="2" charset="0"/>
                  <a:ea typeface="ROBOTO CONDENSED LIGHT" pitchFamily="2" charset="0"/>
                </a:rPr>
                <a:t>Full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7C0C724-E1D0-D22E-D4A3-7BB7A957E5A5}"/>
                </a:ext>
              </a:extLst>
            </p:cNvPr>
            <p:cNvSpPr txBox="1"/>
            <p:nvPr/>
          </p:nvSpPr>
          <p:spPr>
            <a:xfrm>
              <a:off x="5981473" y="287236"/>
              <a:ext cx="137569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b="1" dirty="0">
                  <a:ln w="3175">
                    <a:noFill/>
                  </a:ln>
                  <a:latin typeface="ROBOTO CONDENSED LIGHT" pitchFamily="2" charset="0"/>
                  <a:ea typeface="ROBOTO CONDENSED LIGHT" pitchFamily="2" charset="0"/>
                </a:rPr>
                <a:t>Moderate</a:t>
              </a:r>
            </a:p>
          </p:txBody>
        </p:sp>
        <p:pic>
          <p:nvPicPr>
            <p:cNvPr id="18" name="Picture 17" descr="A graph of a temperature&#10;&#10;Description automatically generated">
              <a:extLst>
                <a:ext uri="{FF2B5EF4-FFF2-40B4-BE49-F238E27FC236}">
                  <a16:creationId xmlns:a16="http://schemas.microsoft.com/office/drawing/2014/main" id="{DCF0FCA7-10F9-6FE0-E287-065C663F3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6961" t="60758" r="38021" b="35842"/>
            <a:stretch/>
          </p:blipFill>
          <p:spPr>
            <a:xfrm>
              <a:off x="478266" y="293281"/>
              <a:ext cx="1000800" cy="44957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98C3255-EF9A-5E74-45FD-163E4A8C2B1C}"/>
                </a:ext>
              </a:extLst>
            </p:cNvPr>
            <p:cNvSpPr txBox="1"/>
            <p:nvPr/>
          </p:nvSpPr>
          <p:spPr>
            <a:xfrm>
              <a:off x="535315" y="277254"/>
              <a:ext cx="8386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b="1" dirty="0">
                  <a:ln w="3175">
                    <a:noFill/>
                  </a:ln>
                  <a:latin typeface="ROBOTO CONDENSED LIGHT" pitchFamily="2" charset="0"/>
                  <a:ea typeface="ROBOTO CONDENSED LIGHT" pitchFamily="2" charset="0"/>
                </a:rPr>
                <a:t>None</a:t>
              </a:r>
            </a:p>
          </p:txBody>
        </p:sp>
        <p:pic>
          <p:nvPicPr>
            <p:cNvPr id="3" name="Picture 2" descr="A map of canada with different colors&#10;&#10;Description automatically generated">
              <a:extLst>
                <a:ext uri="{FF2B5EF4-FFF2-40B4-BE49-F238E27FC236}">
                  <a16:creationId xmlns:a16="http://schemas.microsoft.com/office/drawing/2014/main" id="{B5B140B9-9FCC-501F-76D6-913FB56EF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9990" t="24391" r="20292" b="10155"/>
            <a:stretch/>
          </p:blipFill>
          <p:spPr>
            <a:xfrm>
              <a:off x="-15367" y="950947"/>
              <a:ext cx="6794013" cy="5644727"/>
            </a:xfrm>
            <a:prstGeom prst="rect">
              <a:avLst/>
            </a:prstGeom>
          </p:spPr>
        </p:pic>
        <p:pic>
          <p:nvPicPr>
            <p:cNvPr id="32" name="Picture 31" descr="A graph of a temperature&#10;&#10;Description automatically generated">
              <a:extLst>
                <a:ext uri="{FF2B5EF4-FFF2-40B4-BE49-F238E27FC236}">
                  <a16:creationId xmlns:a16="http://schemas.microsoft.com/office/drawing/2014/main" id="{E0AD502B-EA91-BC42-68A4-136F1253A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248" t="16175" r="90469" b="46150"/>
            <a:stretch/>
          </p:blipFill>
          <p:spPr>
            <a:xfrm>
              <a:off x="6167771" y="1196471"/>
              <a:ext cx="459491" cy="2583746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31856AD-F838-8043-D3E4-1D3E552091D6}"/>
                </a:ext>
              </a:extLst>
            </p:cNvPr>
            <p:cNvSpPr txBox="1"/>
            <p:nvPr/>
          </p:nvSpPr>
          <p:spPr>
            <a:xfrm>
              <a:off x="445347" y="1016701"/>
              <a:ext cx="410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600" b="1" dirty="0">
                  <a:ln w="3175">
                    <a:noFill/>
                  </a:ln>
                  <a:latin typeface="ROBOTO CONDENSED LIGHT" pitchFamily="2" charset="0"/>
                  <a:ea typeface="ROBOTO CONDENSED LIGHT" pitchFamily="2" charset="0"/>
                </a:rPr>
                <a:t>a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32D2EC87-DBED-04C9-CA44-4C9E16F52DA9}"/>
                </a:ext>
              </a:extLst>
            </p:cNvPr>
            <p:cNvCxnSpPr>
              <a:cxnSpLocks/>
            </p:cNvCxnSpPr>
            <p:nvPr/>
          </p:nvCxnSpPr>
          <p:spPr>
            <a:xfrm>
              <a:off x="8809449" y="3998056"/>
              <a:ext cx="374754" cy="3117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65CFC23-B9B3-EDDC-A6B5-9C9AC3811229}"/>
                </a:ext>
              </a:extLst>
            </p:cNvPr>
            <p:cNvSpPr txBox="1"/>
            <p:nvPr/>
          </p:nvSpPr>
          <p:spPr>
            <a:xfrm>
              <a:off x="7745099" y="3260146"/>
              <a:ext cx="182703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000" dirty="0">
                  <a:latin typeface="Roboto Condensed Light" pitchFamily="2" charset="0"/>
                  <a:ea typeface="Roboto Condensed Light" pitchFamily="2" charset="0"/>
                </a:rPr>
                <a:t>Not sampled during BTG </a:t>
              </a:r>
              <a:r>
                <a:rPr lang="en-CA" sz="1600" b="1" dirty="0">
                  <a:latin typeface="Roboto Condensed Light" pitchFamily="2" charset="0"/>
                  <a:ea typeface="Roboto Condensed Light" pitchFamily="2" charset="0"/>
                </a:rPr>
                <a:t>(outlined)</a:t>
              </a:r>
              <a:endParaRPr lang="en-CA" sz="2000" b="1" dirty="0">
                <a:latin typeface="Roboto Condensed Light" pitchFamily="2" charset="0"/>
                <a:ea typeface="Roboto Condensed Light" pitchFamily="2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F14AE52-72EB-31DD-3DD2-CE0B439EA1C2}"/>
                </a:ext>
              </a:extLst>
            </p:cNvPr>
            <p:cNvSpPr txBox="1"/>
            <p:nvPr/>
          </p:nvSpPr>
          <p:spPr>
            <a:xfrm>
              <a:off x="5772121" y="1016701"/>
              <a:ext cx="418704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A" sz="3600" b="1" dirty="0">
                  <a:ln w="3175">
                    <a:noFill/>
                  </a:ln>
                  <a:latin typeface="ROBOTO CONDENSED LIGHT" pitchFamily="2" charset="0"/>
                  <a:ea typeface="ROBOTO CONDENSED LIGHT" pitchFamily="2" charset="0"/>
                </a:rPr>
                <a:t>b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FBB3E4B-EA15-AD22-D738-5A6D91EBBAC3}"/>
                </a:ext>
              </a:extLst>
            </p:cNvPr>
            <p:cNvSpPr txBox="1"/>
            <p:nvPr/>
          </p:nvSpPr>
          <p:spPr>
            <a:xfrm>
              <a:off x="413201" y="-280190"/>
              <a:ext cx="37799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800" b="1" dirty="0">
                  <a:latin typeface="Roboto Condensed" pitchFamily="2" charset="0"/>
                  <a:ea typeface="Roboto Condensed" pitchFamily="2" charset="0"/>
                </a:rPr>
                <a:t>Climate coverage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2DB1DA0-71A6-1708-0E41-939F11B60139}"/>
                </a:ext>
              </a:extLst>
            </p:cNvPr>
            <p:cNvSpPr txBox="1"/>
            <p:nvPr/>
          </p:nvSpPr>
          <p:spPr>
            <a:xfrm>
              <a:off x="1581094" y="277254"/>
              <a:ext cx="7697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b="1" dirty="0">
                  <a:ln w="3175">
                    <a:noFill/>
                  </a:ln>
                  <a:latin typeface="ROBOTO CONDENSED LIGHT" pitchFamily="2" charset="0"/>
                  <a:ea typeface="ROBOTO CONDENSED LIGHT" pitchFamily="2" charset="0"/>
                </a:rPr>
                <a:t>Poor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2776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5EA9-8A69-BA10-42F5-EF7CE9D6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6D8EC6A7-5864-B9E7-0757-111236432AC1}"/>
              </a:ext>
            </a:extLst>
          </p:cNvPr>
          <p:cNvSpPr/>
          <p:nvPr/>
        </p:nvSpPr>
        <p:spPr>
          <a:xfrm>
            <a:off x="0" y="-401783"/>
            <a:ext cx="12192000" cy="184640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9" name="Picture 8" descr="A graph of a temperature&#10;&#10;Description automatically generated with medium confidence">
            <a:extLst>
              <a:ext uri="{FF2B5EF4-FFF2-40B4-BE49-F238E27FC236}">
                <a16:creationId xmlns:a16="http://schemas.microsoft.com/office/drawing/2014/main" id="{7382F44A-D1F6-9F10-F071-99E836072D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83" t="15465" r="3283" b="2811"/>
          <a:stretch/>
        </p:blipFill>
        <p:spPr>
          <a:xfrm>
            <a:off x="1581094" y="9229331"/>
            <a:ext cx="9290106" cy="8832928"/>
          </a:xfrm>
          <a:prstGeom prst="rect">
            <a:avLst/>
          </a:prstGeom>
        </p:spPr>
      </p:pic>
      <p:pic>
        <p:nvPicPr>
          <p:cNvPr id="8" name="Picture 7" descr="A graph of a temperature&#10;&#10;Description automatically generated">
            <a:extLst>
              <a:ext uri="{FF2B5EF4-FFF2-40B4-BE49-F238E27FC236}">
                <a16:creationId xmlns:a16="http://schemas.microsoft.com/office/drawing/2014/main" id="{9ACCCEEF-2878-4076-8366-23619CD65B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08" t="6643" r="2897" b="88577"/>
          <a:stretch/>
        </p:blipFill>
        <p:spPr>
          <a:xfrm>
            <a:off x="1365293" y="192779"/>
            <a:ext cx="10826707" cy="6507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1CB4389-059A-E7FD-B86C-FA442FDF824E}"/>
              </a:ext>
            </a:extLst>
          </p:cNvPr>
          <p:cNvSpPr txBox="1"/>
          <p:nvPr/>
        </p:nvSpPr>
        <p:spPr>
          <a:xfrm>
            <a:off x="11253104" y="287236"/>
            <a:ext cx="636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ln w="3175">
                  <a:noFill/>
                </a:ln>
                <a:latin typeface="ROBOTO CONDENSED LIGHT" pitchFamily="2" charset="0"/>
                <a:ea typeface="ROBOTO CONDENSED LIGHT" pitchFamily="2" charset="0"/>
              </a:rPr>
              <a:t>Full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AC6B58-5914-C825-A31D-F76A99C1E570}"/>
              </a:ext>
            </a:extLst>
          </p:cNvPr>
          <p:cNvSpPr txBox="1"/>
          <p:nvPr/>
        </p:nvSpPr>
        <p:spPr>
          <a:xfrm>
            <a:off x="5981473" y="287236"/>
            <a:ext cx="1375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ln w="3175">
                  <a:noFill/>
                </a:ln>
                <a:latin typeface="ROBOTO CONDENSED LIGHT" pitchFamily="2" charset="0"/>
                <a:ea typeface="ROBOTO CONDENSED LIGHT" pitchFamily="2" charset="0"/>
              </a:rPr>
              <a:t>Moderate</a:t>
            </a:r>
          </a:p>
        </p:txBody>
      </p:sp>
      <p:pic>
        <p:nvPicPr>
          <p:cNvPr id="18" name="Picture 17" descr="A graph of a temperature&#10;&#10;Description automatically generated">
            <a:extLst>
              <a:ext uri="{FF2B5EF4-FFF2-40B4-BE49-F238E27FC236}">
                <a16:creationId xmlns:a16="http://schemas.microsoft.com/office/drawing/2014/main" id="{9E08D678-7348-CD89-205A-AFE390E482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6961" t="60758" r="38021" b="35842"/>
          <a:stretch/>
        </p:blipFill>
        <p:spPr>
          <a:xfrm>
            <a:off x="478266" y="293281"/>
            <a:ext cx="1000800" cy="4495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E1071D6-FCA3-DF55-0A19-B4DC5D18BD9B}"/>
              </a:ext>
            </a:extLst>
          </p:cNvPr>
          <p:cNvSpPr txBox="1"/>
          <p:nvPr/>
        </p:nvSpPr>
        <p:spPr>
          <a:xfrm>
            <a:off x="535315" y="277254"/>
            <a:ext cx="838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ln w="3175">
                  <a:noFill/>
                </a:ln>
                <a:latin typeface="ROBOTO CONDENSED LIGHT" pitchFamily="2" charset="0"/>
                <a:ea typeface="ROBOTO CONDENSED LIGHT" pitchFamily="2" charset="0"/>
              </a:rPr>
              <a:t>None</a:t>
            </a:r>
          </a:p>
        </p:txBody>
      </p:sp>
      <p:pic>
        <p:nvPicPr>
          <p:cNvPr id="3" name="Picture 2" descr="A map of canada with different colors&#10;&#10;Description automatically generated">
            <a:extLst>
              <a:ext uri="{FF2B5EF4-FFF2-40B4-BE49-F238E27FC236}">
                <a16:creationId xmlns:a16="http://schemas.microsoft.com/office/drawing/2014/main" id="{D7C09D20-6C47-0943-D722-00E54881DC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990" t="24391" r="20292" b="10155"/>
          <a:stretch/>
        </p:blipFill>
        <p:spPr>
          <a:xfrm>
            <a:off x="1515808" y="877727"/>
            <a:ext cx="9661046" cy="802676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D3F7D65-00E2-B6F9-81CC-AB116D9891E0}"/>
              </a:ext>
            </a:extLst>
          </p:cNvPr>
          <p:cNvSpPr txBox="1"/>
          <p:nvPr/>
        </p:nvSpPr>
        <p:spPr>
          <a:xfrm>
            <a:off x="445347" y="1016701"/>
            <a:ext cx="410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n w="3175">
                  <a:noFill/>
                </a:ln>
                <a:latin typeface="ROBOTO CONDENSED LIGHT" pitchFamily="2" charset="0"/>
                <a:ea typeface="ROBOTO CONDENSED LIGHT" pitchFamily="2" charset="0"/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BCB988-8BFC-A717-B40D-F1F69E30401B}"/>
              </a:ext>
            </a:extLst>
          </p:cNvPr>
          <p:cNvSpPr txBox="1"/>
          <p:nvPr/>
        </p:nvSpPr>
        <p:spPr>
          <a:xfrm>
            <a:off x="5284909" y="17861368"/>
            <a:ext cx="5452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A" sz="2800" dirty="0">
                <a:latin typeface="Roboto Condensed Light" pitchFamily="2" charset="0"/>
                <a:ea typeface="Roboto Condensed Light" pitchFamily="2" charset="0"/>
              </a:rPr>
              <a:t>Outline: Not sampled during BTG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BC366D-051F-3E44-DBFF-5CDC3DFE3CB3}"/>
              </a:ext>
            </a:extLst>
          </p:cNvPr>
          <p:cNvSpPr txBox="1"/>
          <p:nvPr/>
        </p:nvSpPr>
        <p:spPr>
          <a:xfrm>
            <a:off x="413201" y="8813527"/>
            <a:ext cx="418704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CA" sz="3600" b="1" dirty="0">
                <a:ln w="3175">
                  <a:noFill/>
                </a:ln>
                <a:latin typeface="ROBOTO CONDENSED LIGHT" pitchFamily="2" charset="0"/>
                <a:ea typeface="ROBOTO CONDENSED LIGHT" pitchFamily="2" charset="0"/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F2C41C-4143-5598-B8EB-7D425BD5E62A}"/>
              </a:ext>
            </a:extLst>
          </p:cNvPr>
          <p:cNvSpPr txBox="1"/>
          <p:nvPr/>
        </p:nvSpPr>
        <p:spPr>
          <a:xfrm>
            <a:off x="413201" y="-280190"/>
            <a:ext cx="3779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latin typeface="Roboto Condensed" pitchFamily="2" charset="0"/>
                <a:ea typeface="Roboto Condensed" pitchFamily="2" charset="0"/>
              </a:rPr>
              <a:t>Climate coverage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509C46-A287-458E-B098-0BB4DC97A922}"/>
              </a:ext>
            </a:extLst>
          </p:cNvPr>
          <p:cNvSpPr txBox="1"/>
          <p:nvPr/>
        </p:nvSpPr>
        <p:spPr>
          <a:xfrm>
            <a:off x="1581094" y="277254"/>
            <a:ext cx="769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dirty="0">
                <a:ln w="3175">
                  <a:noFill/>
                </a:ln>
                <a:latin typeface="ROBOTO CONDENSED LIGHT" pitchFamily="2" charset="0"/>
                <a:ea typeface="ROBOTO CONDENSED LIGHT" pitchFamily="2" charset="0"/>
              </a:rPr>
              <a:t>Poor</a:t>
            </a:r>
          </a:p>
        </p:txBody>
      </p:sp>
    </p:spTree>
    <p:extLst>
      <p:ext uri="{BB962C8B-B14F-4D97-AF65-F5344CB8AC3E}">
        <p14:creationId xmlns:p14="http://schemas.microsoft.com/office/powerpoint/2010/main" val="122637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F5EEB-AC1A-5A64-D193-F0BE21F0C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EF576EB-042D-9BF0-22E5-DB2A6ADF0CCB}"/>
              </a:ext>
            </a:extLst>
          </p:cNvPr>
          <p:cNvGrpSpPr/>
          <p:nvPr/>
        </p:nvGrpSpPr>
        <p:grpSpPr>
          <a:xfrm>
            <a:off x="-7316322" y="-5626138"/>
            <a:ext cx="25318402" cy="16437899"/>
            <a:chOff x="-7316322" y="-5626138"/>
            <a:chExt cx="25318402" cy="16437899"/>
          </a:xfrm>
        </p:grpSpPr>
        <p:pic>
          <p:nvPicPr>
            <p:cNvPr id="7" name="Picture 6" descr="A graph showing the temperature of a climate&#10;&#10;Description automatically generated with medium confidence">
              <a:extLst>
                <a:ext uri="{FF2B5EF4-FFF2-40B4-BE49-F238E27FC236}">
                  <a16:creationId xmlns:a16="http://schemas.microsoft.com/office/drawing/2014/main" id="{83175F08-330C-E330-9A58-719AB8DA3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7183891" y="1872603"/>
              <a:ext cx="9515877" cy="893915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5" name="Picture 4" descr="A map of canada and the annual precipitation&#10;&#10;Description automatically generated">
              <a:extLst>
                <a:ext uri="{FF2B5EF4-FFF2-40B4-BE49-F238E27FC236}">
                  <a16:creationId xmlns:a16="http://schemas.microsoft.com/office/drawing/2014/main" id="{3110F06C-92DE-2323-EB61-E3CFAC6FE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446" t="11967" r="4030" b="14738"/>
            <a:stretch/>
          </p:blipFill>
          <p:spPr>
            <a:xfrm>
              <a:off x="-7316322" y="-4819691"/>
              <a:ext cx="10247202" cy="53999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65AE62-56E0-4CF7-09E2-99394039EA94}"/>
                </a:ext>
              </a:extLst>
            </p:cNvPr>
            <p:cNvSpPr txBox="1"/>
            <p:nvPr/>
          </p:nvSpPr>
          <p:spPr>
            <a:xfrm>
              <a:off x="-7248226" y="959220"/>
              <a:ext cx="45432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600" b="1" dirty="0">
                  <a:latin typeface="Roboto Condensed" pitchFamily="2" charset="0"/>
                  <a:ea typeface="Roboto Condensed" pitchFamily="2" charset="0"/>
                </a:rPr>
                <a:t>Canada’s climate space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D5D8CE5-38B8-0E09-7A6F-95632A91524F}"/>
                </a:ext>
              </a:extLst>
            </p:cNvPr>
            <p:cNvSpPr txBox="1"/>
            <p:nvPr/>
          </p:nvSpPr>
          <p:spPr>
            <a:xfrm>
              <a:off x="-7248226" y="-5626138"/>
              <a:ext cx="34002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600" b="1" dirty="0">
                  <a:latin typeface="Roboto Condensed" pitchFamily="2" charset="0"/>
                  <a:ea typeface="Roboto Condensed" pitchFamily="2" charset="0"/>
                </a:rPr>
                <a:t>Climate variables</a:t>
              </a:r>
            </a:p>
          </p:txBody>
        </p:sp>
        <p:pic>
          <p:nvPicPr>
            <p:cNvPr id="16" name="Picture 15" descr="A map of the world&#10;&#10;Description automatically generated">
              <a:extLst>
                <a:ext uri="{FF2B5EF4-FFF2-40B4-BE49-F238E27FC236}">
                  <a16:creationId xmlns:a16="http://schemas.microsoft.com/office/drawing/2014/main" id="{582DBD22-6ABE-CAE8-9077-D582A6141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5636" t="2810" r="23680" b="8369"/>
            <a:stretch/>
          </p:blipFill>
          <p:spPr>
            <a:xfrm>
              <a:off x="3541627" y="-4819691"/>
              <a:ext cx="14460453" cy="156314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361BBCF-82D2-F2F0-D043-1FEEDC664373}"/>
                </a:ext>
              </a:extLst>
            </p:cNvPr>
            <p:cNvCxnSpPr>
              <a:cxnSpLocks/>
            </p:cNvCxnSpPr>
            <p:nvPr/>
          </p:nvCxnSpPr>
          <p:spPr>
            <a:xfrm>
              <a:off x="-2332765" y="580263"/>
              <a:ext cx="0" cy="129234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034B3EA-EAC1-94D8-92BD-091A0979D650}"/>
                </a:ext>
              </a:extLst>
            </p:cNvPr>
            <p:cNvCxnSpPr>
              <a:cxnSpLocks/>
            </p:cNvCxnSpPr>
            <p:nvPr/>
          </p:nvCxnSpPr>
          <p:spPr>
            <a:xfrm>
              <a:off x="2320133" y="7623858"/>
              <a:ext cx="1221494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8003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08D1B-1EDC-BC86-63A4-76806F21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C0E7710-F850-1B2C-0BCF-1EB91F23A4B6}"/>
              </a:ext>
            </a:extLst>
          </p:cNvPr>
          <p:cNvGrpSpPr/>
          <p:nvPr/>
        </p:nvGrpSpPr>
        <p:grpSpPr>
          <a:xfrm>
            <a:off x="-7324053" y="-2465863"/>
            <a:ext cx="16841538" cy="17374545"/>
            <a:chOff x="-7324053" y="-2465863"/>
            <a:chExt cx="16841538" cy="17374545"/>
          </a:xfrm>
        </p:grpSpPr>
        <p:pic>
          <p:nvPicPr>
            <p:cNvPr id="16" name="Picture 15" descr="A map of the world&#10;&#10;Description automatically generated">
              <a:extLst>
                <a:ext uri="{FF2B5EF4-FFF2-40B4-BE49-F238E27FC236}">
                  <a16:creationId xmlns:a16="http://schemas.microsoft.com/office/drawing/2014/main" id="{668F8655-F470-F838-BD89-D1FD535CD1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772" t="2932" r="22496" b="8496"/>
            <a:stretch/>
          </p:blipFill>
          <p:spPr>
            <a:xfrm>
              <a:off x="-7324053" y="6303815"/>
              <a:ext cx="8271402" cy="86048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045F7D6-B33B-1AE4-3566-6655996D014B}"/>
                </a:ext>
              </a:extLst>
            </p:cNvPr>
            <p:cNvSpPr txBox="1"/>
            <p:nvPr/>
          </p:nvSpPr>
          <p:spPr>
            <a:xfrm flipH="1">
              <a:off x="-7279205" y="6388139"/>
              <a:ext cx="8099085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endParaRPr lang="en-CA" sz="2400" dirty="0">
                <a:latin typeface="Roboto Condensed" pitchFamily="2" charset="0"/>
                <a:ea typeface="Roboto Condensed" pitchFamily="2" charset="0"/>
              </a:endParaRPr>
            </a:p>
          </p:txBody>
        </p:sp>
        <p:pic>
          <p:nvPicPr>
            <p:cNvPr id="25" name="Picture 24" descr="A map of the world&#10;&#10;Description automatically generated">
              <a:extLst>
                <a:ext uri="{FF2B5EF4-FFF2-40B4-BE49-F238E27FC236}">
                  <a16:creationId xmlns:a16="http://schemas.microsoft.com/office/drawing/2014/main" id="{88443989-E165-AB62-478B-199401380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0254" t="3478" r="27444" b="86010"/>
            <a:stretch/>
          </p:blipFill>
          <p:spPr>
            <a:xfrm>
              <a:off x="-5833538" y="6711304"/>
              <a:ext cx="4972425" cy="1021341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1645DAE-99D0-40C2-4451-806C2AB4BC70}"/>
                </a:ext>
              </a:extLst>
            </p:cNvPr>
            <p:cNvSpPr txBox="1"/>
            <p:nvPr/>
          </p:nvSpPr>
          <p:spPr>
            <a:xfrm flipH="1">
              <a:off x="-5833539" y="6467633"/>
              <a:ext cx="481523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dirty="0">
                  <a:latin typeface="Roboto Condensed" pitchFamily="2" charset="0"/>
                  <a:ea typeface="Roboto Condensed" pitchFamily="2" charset="0"/>
                </a:rPr>
                <a:t>Climate frequency </a:t>
              </a:r>
              <a:r>
                <a:rPr lang="en-CA" dirty="0">
                  <a:latin typeface="Roboto Condensed" pitchFamily="2" charset="0"/>
                  <a:ea typeface="Roboto Condensed" pitchFamily="2" charset="0"/>
                </a:rPr>
                <a:t>(cells/bin)</a:t>
              </a:r>
              <a:endParaRPr lang="en-CA" sz="2400" dirty="0">
                <a:latin typeface="Roboto Condensed" pitchFamily="2" charset="0"/>
                <a:ea typeface="Roboto Condensed" pitchFamily="2" charset="0"/>
              </a:endParaRPr>
            </a:p>
          </p:txBody>
        </p:sp>
        <p:pic>
          <p:nvPicPr>
            <p:cNvPr id="7" name="Picture 6" descr="A graph showing the temperature of a climate&#10;&#10;Description automatically generated with medium confidence">
              <a:extLst>
                <a:ext uri="{FF2B5EF4-FFF2-40B4-BE49-F238E27FC236}">
                  <a16:creationId xmlns:a16="http://schemas.microsoft.com/office/drawing/2014/main" id="{CEE892B9-C768-7745-2B86-24B2A74DE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7324052" y="-1659966"/>
              <a:ext cx="8271401" cy="77701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F82869-4FA7-AF01-2D69-6B3BDBA6065C}"/>
                </a:ext>
              </a:extLst>
            </p:cNvPr>
            <p:cNvSpPr txBox="1"/>
            <p:nvPr/>
          </p:nvSpPr>
          <p:spPr>
            <a:xfrm>
              <a:off x="-7282745" y="-2465863"/>
              <a:ext cx="82300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b="1" dirty="0">
                  <a:latin typeface="Roboto Condensed" pitchFamily="2" charset="0"/>
                  <a:ea typeface="Roboto Condensed" pitchFamily="2" charset="0"/>
                </a:rPr>
                <a:t>Available climate space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1F7001F-685C-B27E-F081-19BA5DDA53F1}"/>
                </a:ext>
              </a:extLst>
            </p:cNvPr>
            <p:cNvSpPr txBox="1"/>
            <p:nvPr/>
          </p:nvSpPr>
          <p:spPr>
            <a:xfrm flipH="1">
              <a:off x="-7237896" y="-1585163"/>
              <a:ext cx="8099085" cy="9608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endParaRPr lang="en-CA" sz="2400" dirty="0">
                <a:latin typeface="Roboto Condensed" pitchFamily="2" charset="0"/>
                <a:ea typeface="Roboto Condensed" pitchFamily="2" charset="0"/>
              </a:endParaRPr>
            </a:p>
          </p:txBody>
        </p:sp>
        <p:pic>
          <p:nvPicPr>
            <p:cNvPr id="27" name="Picture 26" descr="A graph showing the temperature of a climate&#10;&#10;Description automatically generated with medium confidence">
              <a:extLst>
                <a:ext uri="{FF2B5EF4-FFF2-40B4-BE49-F238E27FC236}">
                  <a16:creationId xmlns:a16="http://schemas.microsoft.com/office/drawing/2014/main" id="{454E98ED-DD0F-19EE-73BB-B803F57C6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178" t="5103" r="7517" b="86579"/>
            <a:stretch/>
          </p:blipFill>
          <p:spPr>
            <a:xfrm>
              <a:off x="-5765045" y="-1013843"/>
              <a:ext cx="5070764" cy="646331"/>
            </a:xfrm>
            <a:prstGeom prst="rect">
              <a:avLst/>
            </a:prstGeom>
            <a:ln>
              <a:noFill/>
            </a:ln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E6D1D1A-3F3C-8352-E860-DF4473210DCF}"/>
                </a:ext>
              </a:extLst>
            </p:cNvPr>
            <p:cNvSpPr txBox="1"/>
            <p:nvPr/>
          </p:nvSpPr>
          <p:spPr>
            <a:xfrm flipH="1">
              <a:off x="-5637278" y="-1475508"/>
              <a:ext cx="481523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dirty="0">
                  <a:latin typeface="Roboto Condensed" pitchFamily="2" charset="0"/>
                  <a:ea typeface="Roboto Condensed" pitchFamily="2" charset="0"/>
                </a:rPr>
                <a:t>Climate frequency </a:t>
              </a:r>
              <a:r>
                <a:rPr lang="en-CA" dirty="0">
                  <a:latin typeface="Roboto Condensed" pitchFamily="2" charset="0"/>
                  <a:ea typeface="Roboto Condensed" pitchFamily="2" charset="0"/>
                </a:rPr>
                <a:t>(cells/bin)</a:t>
              </a:r>
              <a:endParaRPr lang="en-CA" sz="2400" dirty="0">
                <a:latin typeface="Roboto Condensed" pitchFamily="2" charset="0"/>
                <a:ea typeface="Roboto Condensed" pitchFamily="2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D4EE85-63A5-FD0D-9847-6AA023DD5384}"/>
                </a:ext>
              </a:extLst>
            </p:cNvPr>
            <p:cNvSpPr txBox="1"/>
            <p:nvPr/>
          </p:nvSpPr>
          <p:spPr>
            <a:xfrm>
              <a:off x="-7198642" y="-1593762"/>
              <a:ext cx="40588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600" dirty="0">
                  <a:latin typeface="Roboto Condensed" pitchFamily="2" charset="0"/>
                  <a:ea typeface="Roboto Condensed" pitchFamily="2" charset="0"/>
                </a:rPr>
                <a:t>a</a:t>
              </a:r>
            </a:p>
          </p:txBody>
        </p:sp>
        <p:pic>
          <p:nvPicPr>
            <p:cNvPr id="2" name="Picture 1" descr="A graph of a graph showing the temperature of a climate&#10;&#10;Description automatically generated with medium confidence">
              <a:extLst>
                <a:ext uri="{FF2B5EF4-FFF2-40B4-BE49-F238E27FC236}">
                  <a16:creationId xmlns:a16="http://schemas.microsoft.com/office/drawing/2014/main" id="{428E4792-20CB-089B-76DD-474735E2F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46083" y="-1659966"/>
              <a:ext cx="8271402" cy="77701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79818FB-A174-6DA7-C901-FFCB8301FAB3}"/>
                </a:ext>
              </a:extLst>
            </p:cNvPr>
            <p:cNvSpPr txBox="1"/>
            <p:nvPr/>
          </p:nvSpPr>
          <p:spPr>
            <a:xfrm flipH="1">
              <a:off x="1366873" y="-1558477"/>
              <a:ext cx="8099085" cy="9608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endParaRPr lang="en-CA" sz="2400" dirty="0">
                <a:latin typeface="Roboto Condensed" pitchFamily="2" charset="0"/>
                <a:ea typeface="Roboto Condensed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B8A1034-7C7A-95FA-56DA-B02AE369C485}"/>
                </a:ext>
              </a:extLst>
            </p:cNvPr>
            <p:cNvSpPr txBox="1"/>
            <p:nvPr/>
          </p:nvSpPr>
          <p:spPr>
            <a:xfrm>
              <a:off x="1366875" y="-1593762"/>
              <a:ext cx="4122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600" dirty="0">
                  <a:latin typeface="Roboto Condensed" pitchFamily="2" charset="0"/>
                  <a:ea typeface="Roboto Condensed" pitchFamily="2" charset="0"/>
                </a:rPr>
                <a:t>b</a:t>
              </a:r>
            </a:p>
          </p:txBody>
        </p:sp>
        <p:pic>
          <p:nvPicPr>
            <p:cNvPr id="30" name="Picture 29" descr="A graph of a graph showing the temperature of a climate&#10;&#10;Description automatically generated with medium confidence">
              <a:extLst>
                <a:ext uri="{FF2B5EF4-FFF2-40B4-BE49-F238E27FC236}">
                  <a16:creationId xmlns:a16="http://schemas.microsoft.com/office/drawing/2014/main" id="{F9E9695B-5058-031A-37A4-C404AFDFC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165" t="4875" r="7698" b="87168"/>
            <a:stretch/>
          </p:blipFill>
          <p:spPr>
            <a:xfrm>
              <a:off x="2704036" y="-1055337"/>
              <a:ext cx="5056909" cy="618252"/>
            </a:xfrm>
            <a:prstGeom prst="rect">
              <a:avLst/>
            </a:prstGeom>
            <a:ln>
              <a:noFill/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BB9AC1-3B31-C974-36F1-E37274ABD22A}"/>
                </a:ext>
              </a:extLst>
            </p:cNvPr>
            <p:cNvSpPr txBox="1"/>
            <p:nvPr/>
          </p:nvSpPr>
          <p:spPr>
            <a:xfrm flipH="1">
              <a:off x="2619899" y="-1436208"/>
              <a:ext cx="552376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dirty="0">
                  <a:latin typeface="Roboto Condensed" pitchFamily="2" charset="0"/>
                  <a:ea typeface="Roboto Condensed" pitchFamily="2" charset="0"/>
                </a:rPr>
                <a:t>Sampling density (</a:t>
              </a:r>
              <a:r>
                <a:rPr lang="en-CA" sz="2400" dirty="0" err="1">
                  <a:latin typeface="Roboto Condensed" pitchFamily="2" charset="0"/>
                  <a:ea typeface="Roboto Condensed" pitchFamily="2" charset="0"/>
                </a:rPr>
                <a:t>obs</a:t>
              </a:r>
              <a:r>
                <a:rPr lang="en-CA" sz="2400" dirty="0">
                  <a:latin typeface="Roboto Condensed" pitchFamily="2" charset="0"/>
                  <a:ea typeface="Roboto Condensed" pitchFamily="2" charset="0"/>
                </a:rPr>
                <a:t>/bin)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3CD4C8B-38E7-CCC0-A6D8-D00AB7B9F949}"/>
                </a:ext>
              </a:extLst>
            </p:cNvPr>
            <p:cNvSpPr txBox="1"/>
            <p:nvPr/>
          </p:nvSpPr>
          <p:spPr>
            <a:xfrm>
              <a:off x="1178143" y="-2458224"/>
              <a:ext cx="82714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3600" b="1" dirty="0">
                  <a:latin typeface="Roboto Condensed" pitchFamily="2" charset="0"/>
                  <a:ea typeface="Roboto Condensed" pitchFamily="2" charset="0"/>
                </a:rPr>
                <a:t>Sampled climate space</a:t>
              </a:r>
            </a:p>
          </p:txBody>
        </p:sp>
        <p:pic>
          <p:nvPicPr>
            <p:cNvPr id="6" name="Picture 5" descr="A map of the world&#10;&#10;Description automatically generated">
              <a:extLst>
                <a:ext uri="{FF2B5EF4-FFF2-40B4-BE49-F238E27FC236}">
                  <a16:creationId xmlns:a16="http://schemas.microsoft.com/office/drawing/2014/main" id="{9E272CB4-94F6-7191-0F93-BA83A534E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25194" t="3802" r="21896" b="8981"/>
            <a:stretch/>
          </p:blipFill>
          <p:spPr>
            <a:xfrm>
              <a:off x="1246083" y="6303815"/>
              <a:ext cx="8271402" cy="86048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FDDE780-EBB3-4153-BE93-E08E81DD4ECB}"/>
                </a:ext>
              </a:extLst>
            </p:cNvPr>
            <p:cNvSpPr txBox="1"/>
            <p:nvPr/>
          </p:nvSpPr>
          <p:spPr>
            <a:xfrm flipH="1">
              <a:off x="1366874" y="6361615"/>
              <a:ext cx="8099085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endParaRPr lang="en-CA" sz="2400" dirty="0">
                <a:latin typeface="Roboto Condensed" pitchFamily="2" charset="0"/>
                <a:ea typeface="Roboto Condensed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C8D3DF-B214-D168-6659-87A204DF17ED}"/>
                </a:ext>
              </a:extLst>
            </p:cNvPr>
            <p:cNvSpPr txBox="1"/>
            <p:nvPr/>
          </p:nvSpPr>
          <p:spPr>
            <a:xfrm>
              <a:off x="1366875" y="6388139"/>
              <a:ext cx="4122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3600" dirty="0">
                  <a:latin typeface="Roboto Condensed" pitchFamily="2" charset="0"/>
                  <a:ea typeface="Roboto Condensed" pitchFamily="2" charset="0"/>
                </a:rPr>
                <a:t>d</a:t>
              </a:r>
            </a:p>
          </p:txBody>
        </p:sp>
        <p:pic>
          <p:nvPicPr>
            <p:cNvPr id="24" name="Picture 23" descr="A map of the world&#10;&#10;Description automatically generated">
              <a:extLst>
                <a:ext uri="{FF2B5EF4-FFF2-40B4-BE49-F238E27FC236}">
                  <a16:creationId xmlns:a16="http://schemas.microsoft.com/office/drawing/2014/main" id="{02BBE92A-CC80-EB46-2D1F-5639E9059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2096" t="3802" r="21895" b="86163"/>
            <a:stretch/>
          </p:blipFill>
          <p:spPr>
            <a:xfrm>
              <a:off x="2807961" y="6779216"/>
              <a:ext cx="5629204" cy="989977"/>
            </a:xfrm>
            <a:prstGeom prst="rect">
              <a:avLst/>
            </a:prstGeom>
            <a:ln>
              <a:noFill/>
            </a:ln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9FA6A1-430B-83A9-2A3C-2CA4442E0640}"/>
                </a:ext>
              </a:extLst>
            </p:cNvPr>
            <p:cNvSpPr txBox="1"/>
            <p:nvPr/>
          </p:nvSpPr>
          <p:spPr>
            <a:xfrm flipH="1">
              <a:off x="2807960" y="6477971"/>
              <a:ext cx="50117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2400" dirty="0">
                  <a:latin typeface="Roboto Condensed" pitchFamily="2" charset="0"/>
                  <a:ea typeface="Roboto Condensed" pitchFamily="2" charset="0"/>
                </a:rPr>
                <a:t>Climate sampling density </a:t>
              </a:r>
              <a:r>
                <a:rPr lang="en-CA" dirty="0">
                  <a:latin typeface="Roboto Condensed" pitchFamily="2" charset="0"/>
                  <a:ea typeface="Roboto Condensed" pitchFamily="2" charset="0"/>
                </a:rPr>
                <a:t>(</a:t>
              </a:r>
              <a:r>
                <a:rPr lang="en-CA" dirty="0" err="1">
                  <a:latin typeface="Roboto Condensed" pitchFamily="2" charset="0"/>
                  <a:ea typeface="Roboto Condensed" pitchFamily="2" charset="0"/>
                </a:rPr>
                <a:t>obs</a:t>
              </a:r>
              <a:r>
                <a:rPr lang="en-CA" dirty="0">
                  <a:latin typeface="Roboto Condensed" pitchFamily="2" charset="0"/>
                  <a:ea typeface="Roboto Condensed" pitchFamily="2" charset="0"/>
                </a:rPr>
                <a:t>/bin)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D4A97C1-2889-BFD6-F928-5C0F63A24E5E}"/>
                </a:ext>
              </a:extLst>
            </p:cNvPr>
            <p:cNvSpPr txBox="1"/>
            <p:nvPr/>
          </p:nvSpPr>
          <p:spPr>
            <a:xfrm>
              <a:off x="-7260199" y="6388139"/>
              <a:ext cx="3978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3600" dirty="0">
                  <a:latin typeface="Roboto Condensed" pitchFamily="2" charset="0"/>
                  <a:ea typeface="Roboto Condensed" pitchFamily="2" charset="0"/>
                </a:rPr>
                <a:t>c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1C339F-82BC-E577-9ABF-1B762C83BA5F}"/>
                </a:ext>
              </a:extLst>
            </p:cNvPr>
            <p:cNvSpPr txBox="1"/>
            <p:nvPr/>
          </p:nvSpPr>
          <p:spPr>
            <a:xfrm flipH="1">
              <a:off x="-4211918" y="5534059"/>
              <a:ext cx="481523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2400" dirty="0">
                  <a:latin typeface="Roboto Condensed" pitchFamily="2" charset="0"/>
                  <a:ea typeface="Roboto Condensed" pitchFamily="2" charset="0"/>
                </a:rPr>
                <a:t>Annual mean temperature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ADC66C3-5060-F73A-E19F-611A3DAD4BF5}"/>
                </a:ext>
              </a:extLst>
            </p:cNvPr>
            <p:cNvSpPr txBox="1"/>
            <p:nvPr/>
          </p:nvSpPr>
          <p:spPr>
            <a:xfrm rot="16200000" flipH="1">
              <a:off x="-9403317" y="1486104"/>
              <a:ext cx="481523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2400" dirty="0">
                  <a:latin typeface="Roboto Condensed" pitchFamily="2" charset="0"/>
                  <a:ea typeface="Roboto Condensed" pitchFamily="2" charset="0"/>
                </a:rPr>
                <a:t>Annual precipitation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2D2477F-F261-6845-2DA5-AEC65BC173BF}"/>
                </a:ext>
              </a:extLst>
            </p:cNvPr>
            <p:cNvSpPr txBox="1"/>
            <p:nvPr/>
          </p:nvSpPr>
          <p:spPr>
            <a:xfrm flipH="1">
              <a:off x="4314461" y="5514479"/>
              <a:ext cx="481523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2400" dirty="0">
                  <a:latin typeface="Roboto Condensed" pitchFamily="2" charset="0"/>
                  <a:ea typeface="Roboto Condensed" pitchFamily="2" charset="0"/>
                </a:rPr>
                <a:t>Annual mean temperature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2C825A7-3B1E-26D3-43BF-A7386DDF6229}"/>
                </a:ext>
              </a:extLst>
            </p:cNvPr>
            <p:cNvSpPr txBox="1"/>
            <p:nvPr/>
          </p:nvSpPr>
          <p:spPr>
            <a:xfrm rot="16200000" flipH="1">
              <a:off x="-809909" y="1637003"/>
              <a:ext cx="481523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2400" dirty="0">
                  <a:latin typeface="Roboto Condensed" pitchFamily="2" charset="0"/>
                  <a:ea typeface="Roboto Condensed" pitchFamily="2" charset="0"/>
                </a:rPr>
                <a:t>Annual precipitation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216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CC5EA30-3A02-DFDF-40C5-35F507E720A9}"/>
              </a:ext>
            </a:extLst>
          </p:cNvPr>
          <p:cNvGrpSpPr/>
          <p:nvPr/>
        </p:nvGrpSpPr>
        <p:grpSpPr>
          <a:xfrm>
            <a:off x="-8298343" y="-7263189"/>
            <a:ext cx="27913263" cy="25635857"/>
            <a:chOff x="-8738610" y="-8109856"/>
            <a:chExt cx="27913263" cy="2563585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AC814BA-A107-63A3-CF76-28CDCB80A46B}"/>
                </a:ext>
              </a:extLst>
            </p:cNvPr>
            <p:cNvSpPr/>
            <p:nvPr/>
          </p:nvSpPr>
          <p:spPr>
            <a:xfrm>
              <a:off x="-8738610" y="-8077199"/>
              <a:ext cx="27913263" cy="25603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5863FA58-0378-415E-C12E-91E9B303DE1A}"/>
                </a:ext>
              </a:extLst>
            </p:cNvPr>
            <p:cNvGrpSpPr/>
            <p:nvPr/>
          </p:nvGrpSpPr>
          <p:grpSpPr>
            <a:xfrm>
              <a:off x="-8738610" y="-8109856"/>
              <a:ext cx="27913263" cy="25603200"/>
              <a:chOff x="-8738610" y="-9710056"/>
              <a:chExt cx="27913263" cy="25603200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7672C85-1709-816A-7DC8-1C7A392239CE}"/>
                  </a:ext>
                </a:extLst>
              </p:cNvPr>
              <p:cNvSpPr/>
              <p:nvPr/>
            </p:nvSpPr>
            <p:spPr>
              <a:xfrm>
                <a:off x="-8738610" y="-9710056"/>
                <a:ext cx="27913263" cy="25603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dirty="0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0E415191-E12A-03D2-DB83-C2774C3AC9AE}"/>
                  </a:ext>
                </a:extLst>
              </p:cNvPr>
              <p:cNvGrpSpPr/>
              <p:nvPr/>
            </p:nvGrpSpPr>
            <p:grpSpPr>
              <a:xfrm>
                <a:off x="-8098367" y="-7180940"/>
                <a:ext cx="12810610" cy="22677165"/>
                <a:chOff x="-7474405" y="-7229066"/>
                <a:chExt cx="12810610" cy="22677165"/>
              </a:xfrm>
            </p:grpSpPr>
            <p:pic>
              <p:nvPicPr>
                <p:cNvPr id="30" name="Picture 29" descr="A graph of a temperature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D838A2C9-5CEE-381C-F7FF-C9C70DB973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18294"/>
                <a:stretch/>
              </p:blipFill>
              <p:spPr>
                <a:xfrm>
                  <a:off x="-7474405" y="6035535"/>
                  <a:ext cx="12810610" cy="9412564"/>
                </a:xfrm>
                <a:prstGeom prst="rect">
                  <a:avLst/>
                </a:prstGeom>
              </p:spPr>
            </p:pic>
            <p:pic>
              <p:nvPicPr>
                <p:cNvPr id="38" name="Picture 37" descr="A map of canada with different colors&#10;&#10;Description automatically generated">
                  <a:extLst>
                    <a:ext uri="{FF2B5EF4-FFF2-40B4-BE49-F238E27FC236}">
                      <a16:creationId xmlns:a16="http://schemas.microsoft.com/office/drawing/2014/main" id="{52597FF4-7D77-271D-D83B-0996B1597B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22563" r="22998" b="6154"/>
                <a:stretch/>
              </p:blipFill>
              <p:spPr>
                <a:xfrm>
                  <a:off x="-7474405" y="-7229066"/>
                  <a:ext cx="12161518" cy="13231431"/>
                </a:xfrm>
                <a:prstGeom prst="rect">
                  <a:avLst/>
                </a:prstGeom>
              </p:spPr>
            </p:pic>
            <p:pic>
              <p:nvPicPr>
                <p:cNvPr id="39" name="Picture 38" descr="A map of canada with different colors&#10;&#10;Description automatically generated">
                  <a:extLst>
                    <a:ext uri="{FF2B5EF4-FFF2-40B4-BE49-F238E27FC236}">
                      <a16:creationId xmlns:a16="http://schemas.microsoft.com/office/drawing/2014/main" id="{99E02626-3BBF-B2A2-6F3D-58792ACBF8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38227" t="5442" r="36941" b="90019"/>
                <a:stretch/>
              </p:blipFill>
              <p:spPr>
                <a:xfrm>
                  <a:off x="-6148523" y="-6400878"/>
                  <a:ext cx="9509754" cy="1097281"/>
                </a:xfrm>
                <a:prstGeom prst="rect">
                  <a:avLst/>
                </a:prstGeom>
              </p:spPr>
            </p:pic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036A859-0123-6D97-7799-B7D2607081F6}"/>
                    </a:ext>
                  </a:extLst>
                </p:cNvPr>
                <p:cNvSpPr txBox="1"/>
                <p:nvPr/>
              </p:nvSpPr>
              <p:spPr>
                <a:xfrm>
                  <a:off x="-5962369" y="-7003888"/>
                  <a:ext cx="391485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4000" dirty="0">
                      <a:latin typeface="Roboto Condensed" pitchFamily="2" charset="0"/>
                      <a:ea typeface="Roboto Condensed" pitchFamily="2" charset="0"/>
                    </a:rPr>
                    <a:t>Under-represented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E16CDA1-A608-7052-874D-4603BB158652}"/>
                    </a:ext>
                  </a:extLst>
                </p:cNvPr>
                <p:cNvSpPr txBox="1"/>
                <p:nvPr/>
              </p:nvSpPr>
              <p:spPr>
                <a:xfrm>
                  <a:off x="-337598" y="-7034368"/>
                  <a:ext cx="3650358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CA" sz="4000" dirty="0">
                      <a:latin typeface="Roboto Condensed" pitchFamily="2" charset="0"/>
                      <a:ea typeface="Roboto Condensed" pitchFamily="2" charset="0"/>
                    </a:rPr>
                    <a:t>Over-represented</a:t>
                  </a:r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750011AC-DAB8-CA4A-290B-28E246AC4F1B}"/>
                  </a:ext>
                </a:extLst>
              </p:cNvPr>
              <p:cNvGrpSpPr/>
              <p:nvPr/>
            </p:nvGrpSpPr>
            <p:grpSpPr>
              <a:xfrm>
                <a:off x="5218022" y="-6233024"/>
                <a:ext cx="12730471" cy="21681123"/>
                <a:chOff x="5218022" y="-6233024"/>
                <a:chExt cx="12730471" cy="21681123"/>
              </a:xfrm>
            </p:grpSpPr>
            <p:pic>
              <p:nvPicPr>
                <p:cNvPr id="32" name="Picture 31" descr="A graph showing the temperature of a hot day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684E88AD-E445-6B55-9710-A0B349A647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t="19862" b="1"/>
                <a:stretch/>
              </p:blipFill>
              <p:spPr>
                <a:xfrm>
                  <a:off x="5218022" y="6273995"/>
                  <a:ext cx="12730471" cy="9174104"/>
                </a:xfrm>
                <a:prstGeom prst="rect">
                  <a:avLst/>
                </a:prstGeom>
              </p:spPr>
            </p:pic>
            <p:pic>
              <p:nvPicPr>
                <p:cNvPr id="42" name="Picture 41" descr="A map of canada with different colors&#10;&#10;Description automatically generated">
                  <a:extLst>
                    <a:ext uri="{FF2B5EF4-FFF2-40B4-BE49-F238E27FC236}">
                      <a16:creationId xmlns:a16="http://schemas.microsoft.com/office/drawing/2014/main" id="{7BDDE97C-03E8-55E6-083C-D954DD40BF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38227" t="5442" r="36941" b="90019"/>
                <a:stretch/>
              </p:blipFill>
              <p:spPr>
                <a:xfrm>
                  <a:off x="6855796" y="-6233024"/>
                  <a:ext cx="9509754" cy="1097281"/>
                </a:xfrm>
                <a:prstGeom prst="rect">
                  <a:avLst/>
                </a:prstGeom>
              </p:spPr>
            </p:pic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EBF2EA0-E1B2-3969-C596-0CB1128B9197}"/>
                  </a:ext>
                </a:extLst>
              </p:cNvPr>
              <p:cNvSpPr txBox="1"/>
              <p:nvPr/>
            </p:nvSpPr>
            <p:spPr>
              <a:xfrm>
                <a:off x="12184785" y="-6861288"/>
                <a:ext cx="42386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4000" dirty="0">
                    <a:latin typeface="Roboto Condensed" pitchFamily="2" charset="0"/>
                    <a:ea typeface="Roboto Condensed" pitchFamily="2" charset="0"/>
                  </a:rPr>
                  <a:t>More representative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873D5DB-AD0C-0CD5-D35A-C9EB897C6A0A}"/>
                  </a:ext>
                </a:extLst>
              </p:cNvPr>
              <p:cNvSpPr txBox="1"/>
              <p:nvPr/>
            </p:nvSpPr>
            <p:spPr>
              <a:xfrm>
                <a:off x="6989443" y="-6861288"/>
                <a:ext cx="268855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4000" dirty="0">
                    <a:latin typeface="Roboto Condensed" pitchFamily="2" charset="0"/>
                    <a:ea typeface="Roboto Condensed" pitchFamily="2" charset="0"/>
                  </a:rPr>
                  <a:t>More biased</a:t>
                </a:r>
              </a:p>
            </p:txBody>
          </p:sp>
          <p:sp>
            <p:nvSpPr>
              <p:cNvPr id="50" name="Rounded Rectangle 49">
                <a:extLst>
                  <a:ext uri="{FF2B5EF4-FFF2-40B4-BE49-F238E27FC236}">
                    <a16:creationId xmlns:a16="http://schemas.microsoft.com/office/drawing/2014/main" id="{78D1EF68-3153-28AA-1721-E83978FCA9EC}"/>
                  </a:ext>
                </a:extLst>
              </p:cNvPr>
              <p:cNvSpPr/>
              <p:nvPr/>
            </p:nvSpPr>
            <p:spPr>
              <a:xfrm>
                <a:off x="5218022" y="-9372600"/>
                <a:ext cx="13406862" cy="24820699"/>
              </a:xfrm>
              <a:prstGeom prst="roundRect">
                <a:avLst>
                  <a:gd name="adj" fmla="val 3796"/>
                </a:avLst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53FEBA85-EBD8-50E2-B61C-CEF4895FCBE1}"/>
                  </a:ext>
                </a:extLst>
              </p:cNvPr>
              <p:cNvSpPr/>
              <p:nvPr/>
            </p:nvSpPr>
            <p:spPr>
              <a:xfrm>
                <a:off x="-8449853" y="-9372600"/>
                <a:ext cx="13406862" cy="24820699"/>
              </a:xfrm>
              <a:prstGeom prst="roundRect">
                <a:avLst>
                  <a:gd name="adj" fmla="val 3796"/>
                </a:avLst>
              </a:prstGeom>
              <a:noFill/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4EB53B0-D27E-8DD0-D037-4155DEF14FC2}"/>
                  </a:ext>
                </a:extLst>
              </p:cNvPr>
              <p:cNvSpPr txBox="1"/>
              <p:nvPr/>
            </p:nvSpPr>
            <p:spPr>
              <a:xfrm>
                <a:off x="5245766" y="-9025127"/>
                <a:ext cx="1340686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800" b="1" dirty="0">
                    <a:latin typeface="Roboto Condensed" pitchFamily="2" charset="0"/>
                    <a:ea typeface="Roboto Condensed" pitchFamily="2" charset="0"/>
                  </a:rPr>
                  <a:t>2025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67B25DC-DE01-70D9-04F2-87B272836824}"/>
                  </a:ext>
                </a:extLst>
              </p:cNvPr>
              <p:cNvSpPr txBox="1"/>
              <p:nvPr/>
            </p:nvSpPr>
            <p:spPr>
              <a:xfrm>
                <a:off x="-8098367" y="-4453421"/>
                <a:ext cx="27432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200" dirty="0">
                    <a:latin typeface="Roboto Condensed" pitchFamily="2" charset="0"/>
                    <a:ea typeface="Roboto Condensed" pitchFamily="2" charset="0"/>
                  </a:rPr>
                  <a:t>a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C6EF299-BA5D-7D58-2501-8C31C1524C4E}"/>
                  </a:ext>
                </a:extLst>
              </p:cNvPr>
              <p:cNvSpPr txBox="1"/>
              <p:nvPr/>
            </p:nvSpPr>
            <p:spPr>
              <a:xfrm>
                <a:off x="5670092" y="-4426678"/>
                <a:ext cx="27432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200" dirty="0">
                    <a:latin typeface="Roboto Condensed" pitchFamily="2" charset="0"/>
                    <a:ea typeface="Roboto Condensed" pitchFamily="2" charset="0"/>
                  </a:rPr>
                  <a:t>b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F11F9E0-126A-8F83-928E-3457A9D260B6}"/>
                  </a:ext>
                </a:extLst>
              </p:cNvPr>
              <p:cNvSpPr txBox="1"/>
              <p:nvPr/>
            </p:nvSpPr>
            <p:spPr>
              <a:xfrm>
                <a:off x="-8098367" y="4961049"/>
                <a:ext cx="27432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200" dirty="0">
                    <a:latin typeface="Roboto Condensed" pitchFamily="2" charset="0"/>
                    <a:ea typeface="Roboto Condensed" pitchFamily="2" charset="0"/>
                  </a:rPr>
                  <a:t>c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41DF5EB-AE8D-ADBE-55B6-AA90CB8CECCF}"/>
                  </a:ext>
                </a:extLst>
              </p:cNvPr>
              <p:cNvSpPr txBox="1"/>
              <p:nvPr/>
            </p:nvSpPr>
            <p:spPr>
              <a:xfrm>
                <a:off x="5670092" y="4964685"/>
                <a:ext cx="27432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7200" dirty="0">
                    <a:latin typeface="Roboto Condensed" pitchFamily="2" charset="0"/>
                    <a:ea typeface="Roboto Condensed" pitchFamily="2" charset="0"/>
                  </a:rPr>
                  <a:t>d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04B7DAE-527D-78A5-A2E0-A40E79AB1BB6}"/>
                  </a:ext>
                </a:extLst>
              </p:cNvPr>
              <p:cNvSpPr txBox="1"/>
              <p:nvPr/>
            </p:nvSpPr>
            <p:spPr>
              <a:xfrm>
                <a:off x="-8449853" y="-9140586"/>
                <a:ext cx="1340686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8800" b="1" dirty="0">
                    <a:latin typeface="Roboto Condensed" pitchFamily="2" charset="0"/>
                    <a:ea typeface="Roboto Condensed" pitchFamily="2" charset="0"/>
                  </a:rPr>
                  <a:t>2008-2024</a:t>
                </a:r>
              </a:p>
            </p:txBody>
          </p:sp>
        </p:grpSp>
        <p:pic>
          <p:nvPicPr>
            <p:cNvPr id="6" name="Picture 5" descr="A map of canada with different colored lines&#10;&#10;Description automatically generated">
              <a:extLst>
                <a:ext uri="{FF2B5EF4-FFF2-40B4-BE49-F238E27FC236}">
                  <a16:creationId xmlns:a16="http://schemas.microsoft.com/office/drawing/2014/main" id="{E15CD3F3-D217-F366-5445-4FE4C1676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rcRect l="23267" t="16360" r="20039" b="8999"/>
            <a:stretch/>
          </p:blipFill>
          <p:spPr>
            <a:xfrm>
              <a:off x="5788665" y="-2970017"/>
              <a:ext cx="12782363" cy="10620708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9EB4891-59D0-03EE-FE4B-E96A421FA587}"/>
                </a:ext>
              </a:extLst>
            </p:cNvPr>
            <p:cNvGrpSpPr/>
            <p:nvPr/>
          </p:nvGrpSpPr>
          <p:grpSpPr>
            <a:xfrm>
              <a:off x="-8098367" y="-5548083"/>
              <a:ext cx="12810610" cy="22677165"/>
              <a:chOff x="-7474405" y="-7229066"/>
              <a:chExt cx="12810610" cy="22677165"/>
            </a:xfrm>
          </p:grpSpPr>
          <p:pic>
            <p:nvPicPr>
              <p:cNvPr id="23" name="Picture 22" descr="A graph of a temperature&#10;&#10;Description automatically generated with medium confidence">
                <a:extLst>
                  <a:ext uri="{FF2B5EF4-FFF2-40B4-BE49-F238E27FC236}">
                    <a16:creationId xmlns:a16="http://schemas.microsoft.com/office/drawing/2014/main" id="{19029BC2-6E96-6AD1-0F2E-BA182FE450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18294"/>
              <a:stretch/>
            </p:blipFill>
            <p:spPr>
              <a:xfrm>
                <a:off x="-7474405" y="6035535"/>
                <a:ext cx="12810610" cy="9412564"/>
              </a:xfrm>
              <a:prstGeom prst="rect">
                <a:avLst/>
              </a:prstGeom>
            </p:spPr>
          </p:pic>
          <p:pic>
            <p:nvPicPr>
              <p:cNvPr id="24" name="Picture 23" descr="A map of canada with different colors&#10;&#10;Description automatically generated">
                <a:extLst>
                  <a:ext uri="{FF2B5EF4-FFF2-40B4-BE49-F238E27FC236}">
                    <a16:creationId xmlns:a16="http://schemas.microsoft.com/office/drawing/2014/main" id="{4A5E3D17-0CB0-CCDE-AA65-61064F9750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2563" r="22998" b="6154"/>
              <a:stretch/>
            </p:blipFill>
            <p:spPr>
              <a:xfrm>
                <a:off x="-7474405" y="-7229066"/>
                <a:ext cx="12161518" cy="13231431"/>
              </a:xfrm>
              <a:prstGeom prst="rect">
                <a:avLst/>
              </a:prstGeom>
            </p:spPr>
          </p:pic>
          <p:pic>
            <p:nvPicPr>
              <p:cNvPr id="25" name="Picture 24" descr="A map of canada with different colors&#10;&#10;Description automatically generated">
                <a:extLst>
                  <a:ext uri="{FF2B5EF4-FFF2-40B4-BE49-F238E27FC236}">
                    <a16:creationId xmlns:a16="http://schemas.microsoft.com/office/drawing/2014/main" id="{342C2792-69C0-63FE-2867-409E4AF7BB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8227" t="5442" r="36941" b="90019"/>
              <a:stretch/>
            </p:blipFill>
            <p:spPr>
              <a:xfrm>
                <a:off x="-6148523" y="-6400878"/>
                <a:ext cx="9509754" cy="1097281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36BB76-E22E-42AF-CE4B-64AB3F95BCB5}"/>
                  </a:ext>
                </a:extLst>
              </p:cNvPr>
              <p:cNvSpPr txBox="1"/>
              <p:nvPr/>
            </p:nvSpPr>
            <p:spPr>
              <a:xfrm>
                <a:off x="-5962369" y="-7003888"/>
                <a:ext cx="391485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4000" dirty="0">
                    <a:latin typeface="Roboto Condensed" pitchFamily="2" charset="0"/>
                    <a:ea typeface="Roboto Condensed" pitchFamily="2" charset="0"/>
                  </a:rPr>
                  <a:t>Under-represented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2907B78-CD69-0FDD-6219-C7F2DBE7C99B}"/>
                  </a:ext>
                </a:extLst>
              </p:cNvPr>
              <p:cNvSpPr txBox="1"/>
              <p:nvPr/>
            </p:nvSpPr>
            <p:spPr>
              <a:xfrm>
                <a:off x="-337598" y="-7034368"/>
                <a:ext cx="365035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4000" dirty="0">
                    <a:latin typeface="Roboto Condensed" pitchFamily="2" charset="0"/>
                    <a:ea typeface="Roboto Condensed" pitchFamily="2" charset="0"/>
                  </a:rPr>
                  <a:t>Over-represented</a:t>
                </a:r>
              </a:p>
            </p:txBody>
          </p:sp>
        </p:grpSp>
        <p:pic>
          <p:nvPicPr>
            <p:cNvPr id="21" name="Picture 20" descr="A graph showing the temperature of a hot day&#10;&#10;Description automatically generated with medium confidence">
              <a:extLst>
                <a:ext uri="{FF2B5EF4-FFF2-40B4-BE49-F238E27FC236}">
                  <a16:creationId xmlns:a16="http://schemas.microsoft.com/office/drawing/2014/main" id="{F9284835-0006-982F-4531-91E64A167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62" b="1"/>
            <a:stretch/>
          </p:blipFill>
          <p:spPr>
            <a:xfrm>
              <a:off x="5218022" y="7906852"/>
              <a:ext cx="12730471" cy="9174104"/>
            </a:xfrm>
            <a:prstGeom prst="rect">
              <a:avLst/>
            </a:prstGeom>
          </p:spPr>
        </p:pic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01BA7B3-17DC-77E6-3FCE-D2FDA5FB8524}"/>
                </a:ext>
              </a:extLst>
            </p:cNvPr>
            <p:cNvSpPr/>
            <p:nvPr/>
          </p:nvSpPr>
          <p:spPr>
            <a:xfrm>
              <a:off x="5218022" y="-7739743"/>
              <a:ext cx="13406862" cy="24820699"/>
            </a:xfrm>
            <a:prstGeom prst="roundRect">
              <a:avLst>
                <a:gd name="adj" fmla="val 3796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953A24C4-3304-04D2-5072-5D721DEBC223}"/>
                </a:ext>
              </a:extLst>
            </p:cNvPr>
            <p:cNvSpPr/>
            <p:nvPr/>
          </p:nvSpPr>
          <p:spPr>
            <a:xfrm>
              <a:off x="-8449853" y="-7739743"/>
              <a:ext cx="13406862" cy="24820699"/>
            </a:xfrm>
            <a:prstGeom prst="roundRect">
              <a:avLst>
                <a:gd name="adj" fmla="val 3796"/>
              </a:avLst>
            </a:prstGeom>
            <a:noFill/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99CFFE4-5171-67F7-E3B2-222C90AF6B71}"/>
                </a:ext>
              </a:extLst>
            </p:cNvPr>
            <p:cNvSpPr txBox="1"/>
            <p:nvPr/>
          </p:nvSpPr>
          <p:spPr>
            <a:xfrm>
              <a:off x="-8098367" y="-2820564"/>
              <a:ext cx="2743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200" dirty="0">
                  <a:latin typeface="Roboto Condensed" pitchFamily="2" charset="0"/>
                  <a:ea typeface="Roboto Condensed" pitchFamily="2" charset="0"/>
                </a:rPr>
                <a:t>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C0D4861-8369-050C-A49C-F68241063E1C}"/>
                </a:ext>
              </a:extLst>
            </p:cNvPr>
            <p:cNvSpPr txBox="1"/>
            <p:nvPr/>
          </p:nvSpPr>
          <p:spPr>
            <a:xfrm>
              <a:off x="5670092" y="-2793821"/>
              <a:ext cx="2743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200" dirty="0">
                  <a:latin typeface="Roboto Condensed" pitchFamily="2" charset="0"/>
                  <a:ea typeface="Roboto Condensed" pitchFamily="2" charset="0"/>
                </a:rPr>
                <a:t>b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2CA98D-5DDD-4EB7-BB16-86C85AA41A83}"/>
                </a:ext>
              </a:extLst>
            </p:cNvPr>
            <p:cNvSpPr txBox="1"/>
            <p:nvPr/>
          </p:nvSpPr>
          <p:spPr>
            <a:xfrm>
              <a:off x="-8098367" y="6593906"/>
              <a:ext cx="2743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200" dirty="0">
                  <a:latin typeface="Roboto Condensed" pitchFamily="2" charset="0"/>
                  <a:ea typeface="Roboto Condensed" pitchFamily="2" charset="0"/>
                </a:rPr>
                <a:t>c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84BF08D-EAFB-0AA8-02FF-0CFF785ED9E4}"/>
                </a:ext>
              </a:extLst>
            </p:cNvPr>
            <p:cNvSpPr txBox="1"/>
            <p:nvPr/>
          </p:nvSpPr>
          <p:spPr>
            <a:xfrm>
              <a:off x="5670092" y="6597542"/>
              <a:ext cx="27432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7200" dirty="0">
                  <a:latin typeface="Roboto Condensed" pitchFamily="2" charset="0"/>
                  <a:ea typeface="Roboto Condensed" pitchFamily="2" charset="0"/>
                </a:rPr>
                <a:t>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1389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CB39FE5-3149-2215-9DA6-D7606A60B8A0}"/>
              </a:ext>
            </a:extLst>
          </p:cNvPr>
          <p:cNvGrpSpPr/>
          <p:nvPr/>
        </p:nvGrpSpPr>
        <p:grpSpPr>
          <a:xfrm>
            <a:off x="526093" y="100209"/>
            <a:ext cx="10314131" cy="10239878"/>
            <a:chOff x="526093" y="100209"/>
            <a:chExt cx="10314131" cy="1023987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D01F88D-D0FC-1F7E-1BF1-D61973A49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7543" r="27010" b="7049"/>
            <a:stretch/>
          </p:blipFill>
          <p:spPr>
            <a:xfrm>
              <a:off x="1189973" y="100209"/>
              <a:ext cx="3532340" cy="455947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299406F-E5B6-BB63-FBF4-90229D686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63340" y="100209"/>
              <a:ext cx="5108834" cy="479920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C703F68-9492-685E-3883-E444D911F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284" r="25207" b="7049"/>
            <a:stretch/>
          </p:blipFill>
          <p:spPr>
            <a:xfrm>
              <a:off x="526093" y="4659682"/>
              <a:ext cx="4697259" cy="568040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C4D738A-7691-7F36-3E84-B94346BF5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95289" y="5225148"/>
              <a:ext cx="5444935" cy="5114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8924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119</Words>
  <Application>Microsoft Macintosh PowerPoint</Application>
  <PresentationFormat>Widescreen</PresentationFormat>
  <Paragraphs>60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Roboto Condensed</vt:lpstr>
      <vt:lpstr>ROBOTO CONDENSED LIGHT</vt:lpstr>
      <vt:lpstr>ROBOTO CONDENSED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5</cp:revision>
  <dcterms:created xsi:type="dcterms:W3CDTF">2026-04-20T19:12:16Z</dcterms:created>
  <dcterms:modified xsi:type="dcterms:W3CDTF">2026-06-11T20:41:59Z</dcterms:modified>
</cp:coreProperties>
</file>