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B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830"/>
  </p:normalViewPr>
  <p:slideViewPr>
    <p:cSldViewPr snapToGrid="0">
      <p:cViewPr>
        <p:scale>
          <a:sx n="67" d="100"/>
          <a:sy n="67" d="100"/>
        </p:scale>
        <p:origin x="2728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1B73E-213E-9043-B37D-404841900A69}" type="datetimeFigureOut">
              <a:rPr lang="en-CA" smtClean="0"/>
              <a:t>2026-05-25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3BB95-3D93-5B4C-9AA7-36110F39E1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6365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Full 2025 version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3BB95-3D93-5B4C-9AA7-36110F39E16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0905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985F9-8CFE-2660-DD0D-709A1A676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A5763-9FB0-B24A-4955-70CD81F36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3B383-B82B-2742-3E8D-9134D5D25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Full 2025 version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89CBE-CC8B-2531-6AD0-8F5E9F66E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3BB95-3D93-5B4C-9AA7-36110F39E161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5364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7A1B2-D194-5FBB-53C9-76C259900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B6C2B-3BF1-C786-5518-614E13891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1FF0D-F61F-4794-269D-CD4E948CC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0C6B8-D10D-6849-9EF7-A4F299C5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1CAC6-6A7A-E6AA-A584-1807C5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3619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5A7E-B009-406F-4365-49A26408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2D756-E931-5C6A-B107-58F76001D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221DC-1B0D-D5FD-97EA-AB2FA273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DA4EE-0209-5769-B6DE-36306E55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A166-BFE2-67E1-C237-C664F9D55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8363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6D599-20DB-CEF2-7A89-BEA2332A2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F0DF3-F1E9-A5B1-C565-2FC1B515A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B323A-6208-9B99-E724-7A3573B28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74086-F14D-AEDA-007F-82C64D90F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979D6-E4B2-2173-A994-143733FDF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8338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79DCB-C553-1A87-559C-FF266E83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68630-1C9D-4420-DED0-7A5FBE63C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DEF50-F2DD-CCA4-CA58-12530B666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F7BD5-0842-2093-8CFE-5500E2664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14BB3-4DF8-6F51-43B7-BE8BF040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41361-7452-894E-9AC7-D4A4ABBD8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17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A3665-AFF6-B502-3E6C-12695D70D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6FA43-C2E8-134A-EEAC-0ED4DC914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6250E-B726-1A2F-525E-33E9130E5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AA7B9-A7C7-1EA9-72A0-8F9731A82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A5D7CB-1CA0-12A0-6387-D55F357CD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3A625-AB18-1A1B-9FAF-21A12F4B1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D1F8E0-D291-F80B-398E-CC9A75817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141D6-AF08-FFC2-F333-D649BA688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4976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91F16-AE96-E38C-B8E6-F0EDEDE9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F7D8E5-52EA-349B-077D-EACE83034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DEE25-7A6B-F736-E17E-18F844A17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26216-BAE4-6543-AC69-D8CE2D71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4253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643827-6E64-9C11-A9C3-9FD1EBB88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3817D-EF6E-3C58-434E-C21A5C6BF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59C6C-E17B-1850-80F8-E2078DBF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8363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734E4-E0A9-F426-A832-586E2931B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EC0ED-F198-8E94-7A12-3EE703725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E2AD1-D7E3-0DF0-F8C2-1E5A31298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ABC18-3F16-21A9-F961-D4137086D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92561-FEF3-1847-FD46-E0949A26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741BE-59AA-F580-C65A-83FCD7E5D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2972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53DC-4853-62A0-4604-CD108D778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557FF-E127-0E05-DF25-0E472D012A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B4D0A-374A-654F-A661-FA0452534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255A0-6C3F-E5FB-A3CD-DCCAB3C21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0F521-CAA3-4AF0-4AA7-74CD1D93E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BB365-813E-1DA2-D838-65C4EAE1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8774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67C6C-1AE3-8F43-8BBD-A6E5E4E40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F7D1F-2DD6-E56D-82F8-79739A1F7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3C726-BC6E-302F-03D1-47AF7193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F0BC8-F0D4-CD01-47F1-1FD1049FB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AE12-BC71-5529-E3BF-2A798440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3944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8F390-AA8D-8209-0BAB-AB1A2E80A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E29D4-C789-D7DB-7931-E47C6DE6C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EEB65-FDB5-54E0-CAC6-C0814066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554C4-728F-E6CC-E1D1-A17488A18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02729-EE0B-1527-BBFB-8526BC58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1072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10516-F105-002C-6B21-A0BF5AA5E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389C9-8CB0-471A-6494-AB71FA643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FE2EA-8CB2-64EA-B31E-B7B4C9496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16F19D-6681-6141-A356-A6917F007572}" type="datetimeFigureOut">
              <a:rPr lang="en-CA" smtClean="0"/>
              <a:t>2026-05-25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4848-131E-76E0-7D6E-82662F242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FD990-E7E7-237F-EEB5-8908806E5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079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2D4A4-F694-F25F-7BD3-6EAC8B8A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289F822-E404-C5D1-AA2D-851E3B32D6D3}"/>
              </a:ext>
            </a:extLst>
          </p:cNvPr>
          <p:cNvGrpSpPr/>
          <p:nvPr/>
        </p:nvGrpSpPr>
        <p:grpSpPr>
          <a:xfrm>
            <a:off x="1680202" y="-1332723"/>
            <a:ext cx="8446969" cy="11320728"/>
            <a:chOff x="1680202" y="-1332723"/>
            <a:chExt cx="8446969" cy="11320728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C81884C-8FC1-BD2C-52E8-403694E538E7}"/>
                </a:ext>
              </a:extLst>
            </p:cNvPr>
            <p:cNvGrpSpPr/>
            <p:nvPr/>
          </p:nvGrpSpPr>
          <p:grpSpPr>
            <a:xfrm>
              <a:off x="1680202" y="-1332723"/>
              <a:ext cx="8446969" cy="11320728"/>
              <a:chOff x="1680202" y="-1343608"/>
              <a:chExt cx="8446969" cy="11320728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CDA4B85-5FB8-EA48-2193-74B52C81AF5B}"/>
                  </a:ext>
                </a:extLst>
              </p:cNvPr>
              <p:cNvSpPr/>
              <p:nvPr/>
            </p:nvSpPr>
            <p:spPr>
              <a:xfrm>
                <a:off x="1922106" y="-1343608"/>
                <a:ext cx="8078819" cy="113207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116EE50D-9DC8-D00B-A3DB-5A93C96558A7}"/>
                  </a:ext>
                </a:extLst>
              </p:cNvPr>
              <p:cNvGrpSpPr/>
              <p:nvPr/>
            </p:nvGrpSpPr>
            <p:grpSpPr>
              <a:xfrm>
                <a:off x="1680202" y="-1246736"/>
                <a:ext cx="8446969" cy="11223856"/>
                <a:chOff x="1680202" y="-1246736"/>
                <a:chExt cx="8446969" cy="11223856"/>
              </a:xfrm>
            </p:grpSpPr>
            <p:pic>
              <p:nvPicPr>
                <p:cNvPr id="3" name="Picture 2" descr="A graph of different colored dots&#10;&#10;Description automatically generated">
                  <a:extLst>
                    <a:ext uri="{FF2B5EF4-FFF2-40B4-BE49-F238E27FC236}">
                      <a16:creationId xmlns:a16="http://schemas.microsoft.com/office/drawing/2014/main" id="{0CFAEE01-C1F4-C52A-DFE0-50A04D621F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27530" b="7853"/>
                <a:stretch/>
              </p:blipFill>
              <p:spPr>
                <a:xfrm>
                  <a:off x="3414931" y="5535951"/>
                  <a:ext cx="6585994" cy="4441169"/>
                </a:xfrm>
                <a:prstGeom prst="rect">
                  <a:avLst/>
                </a:prstGeom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A3E905E-D432-47E8-341C-073FC5CBAF02}"/>
                    </a:ext>
                  </a:extLst>
                </p:cNvPr>
                <p:cNvSpPr txBox="1"/>
                <p:nvPr/>
              </p:nvSpPr>
              <p:spPr>
                <a:xfrm>
                  <a:off x="1922105" y="-1246736"/>
                  <a:ext cx="807881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b="1" dirty="0">
                      <a:latin typeface="Roboto Condensed" pitchFamily="2" charset="0"/>
                      <a:ea typeface="Roboto Condensed" pitchFamily="2" charset="0"/>
                    </a:rPr>
                    <a:t>New species observed per site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C0FEB8F-FA76-1FC5-1311-25D30F0732E0}"/>
                    </a:ext>
                  </a:extLst>
                </p:cNvPr>
                <p:cNvSpPr txBox="1"/>
                <p:nvPr/>
              </p:nvSpPr>
              <p:spPr>
                <a:xfrm>
                  <a:off x="8235589" y="6995868"/>
                  <a:ext cx="165315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1400" b="0" i="0" dirty="0">
                      <a:effectLst/>
                      <a:latin typeface="Roboto Condensed" pitchFamily="2" charset="0"/>
                      <a:ea typeface="Roboto Condensed" pitchFamily="2" charset="0"/>
                    </a:rPr>
                    <a:t>Fetid Marigold </a:t>
                  </a:r>
                  <a:br>
                    <a:rPr lang="en-CA" sz="1400" b="0" i="0" dirty="0">
                      <a:effectLst/>
                      <a:latin typeface="Roboto Condensed" pitchFamily="2" charset="0"/>
                      <a:ea typeface="Roboto Condensed" pitchFamily="2" charset="0"/>
                    </a:rPr>
                  </a:br>
                  <a:r>
                    <a:rPr lang="en-CA" sz="1400" b="0" i="1" dirty="0" err="1">
                      <a:effectLst/>
                      <a:latin typeface="Roboto Condensed" pitchFamily="2" charset="0"/>
                      <a:ea typeface="Roboto Condensed" pitchFamily="2" charset="0"/>
                    </a:rPr>
                    <a:t>Dyssodia</a:t>
                  </a:r>
                  <a:r>
                    <a:rPr lang="en-CA" sz="1400" b="0" i="1" dirty="0">
                      <a:effectLst/>
                      <a:latin typeface="Roboto Condensed" pitchFamily="2" charset="0"/>
                      <a:ea typeface="Roboto Condensed" pitchFamily="2" charset="0"/>
                    </a:rPr>
                    <a:t> </a:t>
                  </a:r>
                  <a:r>
                    <a:rPr lang="en-CA" sz="1400" b="0" i="1" dirty="0" err="1">
                      <a:effectLst/>
                      <a:latin typeface="Roboto Condensed" pitchFamily="2" charset="0"/>
                      <a:ea typeface="Roboto Condensed" pitchFamily="2" charset="0"/>
                    </a:rPr>
                    <a:t>papposa</a:t>
                  </a:r>
                  <a:endParaRPr lang="en-CA" sz="1400" b="0" i="0" dirty="0">
                    <a:effectLst/>
                    <a:latin typeface="Roboto Condensed" pitchFamily="2" charset="0"/>
                    <a:ea typeface="Roboto Condensed" pitchFamily="2" charset="0"/>
                  </a:endParaRP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1A6322D-7225-36AF-EFBB-5AD11E4C2403}"/>
                    </a:ext>
                  </a:extLst>
                </p:cNvPr>
                <p:cNvSpPr txBox="1"/>
                <p:nvPr/>
              </p:nvSpPr>
              <p:spPr>
                <a:xfrm>
                  <a:off x="5646745" y="6204099"/>
                  <a:ext cx="171827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600" b="0" i="0">
                      <a:effectLst/>
                      <a:latin typeface="Roboto Condensed" pitchFamily="2" charset="0"/>
                      <a:ea typeface="Roboto Condensed" pitchFamily="2" charset="0"/>
                    </a:defRPr>
                  </a:lvl1pPr>
                </a:lstStyle>
                <a:p>
                  <a:r>
                    <a:rPr lang="en-CA" sz="1400" dirty="0"/>
                    <a:t>Blanding’s Turtle </a:t>
                  </a:r>
                </a:p>
                <a:p>
                  <a:r>
                    <a:rPr lang="en-CA" sz="1400" i="1" dirty="0" err="1"/>
                    <a:t>Emydoidea</a:t>
                  </a:r>
                  <a:r>
                    <a:rPr lang="en-CA" sz="1400" i="1" dirty="0"/>
                    <a:t> </a:t>
                  </a:r>
                  <a:r>
                    <a:rPr lang="en-CA" sz="1400" i="1" dirty="0" err="1"/>
                    <a:t>blandingii</a:t>
                  </a:r>
                  <a:endParaRPr lang="en-CA" sz="1400" i="1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69232AA-ECC9-809C-5DE4-11F959F5D248}"/>
                    </a:ext>
                  </a:extLst>
                </p:cNvPr>
                <p:cNvSpPr txBox="1"/>
                <p:nvPr/>
              </p:nvSpPr>
              <p:spPr>
                <a:xfrm>
                  <a:off x="7580212" y="7851052"/>
                  <a:ext cx="254695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sz="1400" b="0" i="0" dirty="0">
                      <a:effectLst/>
                      <a:latin typeface="Roboto Condensed" pitchFamily="2" charset="0"/>
                      <a:ea typeface="Roboto Condensed" pitchFamily="2" charset="0"/>
                    </a:rPr>
                    <a:t>Vancouver Island Marmot</a:t>
                  </a:r>
                </a:p>
                <a:p>
                  <a:r>
                    <a:rPr lang="en-CA" sz="1400" b="0" i="1" dirty="0">
                      <a:effectLst/>
                      <a:latin typeface="Roboto Condensed" pitchFamily="2" charset="0"/>
                      <a:ea typeface="Roboto Condensed" pitchFamily="2" charset="0"/>
                    </a:rPr>
                    <a:t>Marmota </a:t>
                  </a:r>
                  <a:r>
                    <a:rPr lang="en-CA" sz="1400" b="0" i="1" dirty="0" err="1">
                      <a:effectLst/>
                      <a:latin typeface="Roboto Condensed" pitchFamily="2" charset="0"/>
                      <a:ea typeface="Roboto Condensed" pitchFamily="2" charset="0"/>
                    </a:rPr>
                    <a:t>vancouverensis</a:t>
                  </a:r>
                  <a:endParaRPr lang="en-CA" sz="1400" b="0" i="1" dirty="0">
                    <a:effectLst/>
                    <a:latin typeface="Roboto Condensed" pitchFamily="2" charset="0"/>
                    <a:ea typeface="Roboto Condensed" pitchFamily="2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AD1CB78-99F8-B3C5-4D9F-8123809D6ED5}"/>
                    </a:ext>
                  </a:extLst>
                </p:cNvPr>
                <p:cNvSpPr txBox="1"/>
                <p:nvPr/>
              </p:nvSpPr>
              <p:spPr>
                <a:xfrm>
                  <a:off x="5625176" y="8362386"/>
                  <a:ext cx="437574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600" b="0" i="0">
                      <a:effectLst/>
                      <a:latin typeface="Roboto Condensed" pitchFamily="2" charset="0"/>
                      <a:ea typeface="Roboto Condensed" pitchFamily="2" charset="0"/>
                    </a:defRPr>
                  </a:lvl1pPr>
                </a:lstStyle>
                <a:p>
                  <a:r>
                    <a:rPr lang="en-CA" sz="1400" dirty="0"/>
                    <a:t>California Tortoiseshell </a:t>
                  </a:r>
                </a:p>
                <a:p>
                  <a:r>
                    <a:rPr lang="en-CA" sz="1400" i="1" dirty="0" err="1"/>
                    <a:t>Nymphalis</a:t>
                  </a:r>
                  <a:r>
                    <a:rPr lang="en-CA" sz="1400" i="1" dirty="0"/>
                    <a:t> californica 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C4BE664-A364-9531-31BD-DC727A1E40D4}"/>
                    </a:ext>
                  </a:extLst>
                </p:cNvPr>
                <p:cNvSpPr txBox="1"/>
                <p:nvPr/>
              </p:nvSpPr>
              <p:spPr>
                <a:xfrm>
                  <a:off x="5619344" y="6816498"/>
                  <a:ext cx="204764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600" b="0" i="0">
                      <a:effectLst/>
                      <a:latin typeface="Roboto Condensed" pitchFamily="2" charset="0"/>
                      <a:ea typeface="Roboto Condensed" pitchFamily="2" charset="0"/>
                    </a:defRPr>
                  </a:lvl1pPr>
                </a:lstStyle>
                <a:p>
                  <a:r>
                    <a:rPr lang="en-CA" sz="1400" dirty="0"/>
                    <a:t>Spring Salamander</a:t>
                  </a:r>
                </a:p>
                <a:p>
                  <a:r>
                    <a:rPr lang="en-CA" sz="1400" i="1" dirty="0" err="1"/>
                    <a:t>Gyrinophilus</a:t>
                  </a:r>
                  <a:r>
                    <a:rPr lang="en-CA" sz="1400" i="1" dirty="0"/>
                    <a:t> </a:t>
                  </a:r>
                  <a:r>
                    <a:rPr lang="en-CA" sz="1400" i="1" dirty="0" err="1"/>
                    <a:t>porphyriticus</a:t>
                  </a:r>
                  <a:endParaRPr lang="en-CA" sz="1400" i="1" dirty="0"/>
                </a:p>
              </p:txBody>
            </p: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45B9CE47-56CC-2C60-26AB-144E4280ED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245721" y="6465709"/>
                  <a:ext cx="427528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90A4AC86-EB25-6703-90AC-C371791174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42922" y="8139166"/>
                  <a:ext cx="45054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073F7B2F-029D-5026-FB78-AB944170E8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92049" y="8584352"/>
                  <a:ext cx="45469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02B60A8A-2C31-8DA4-5D93-A408B0C9DE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24382" y="7086059"/>
                  <a:ext cx="49496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87C2C98-34F5-3874-2356-D786060F0E3B}"/>
                    </a:ext>
                  </a:extLst>
                </p:cNvPr>
                <p:cNvSpPr txBox="1"/>
                <p:nvPr/>
              </p:nvSpPr>
              <p:spPr>
                <a:xfrm>
                  <a:off x="1690822" y="6265654"/>
                  <a:ext cx="17182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600" b="0" i="0">
                      <a:effectLst/>
                      <a:latin typeface="Roboto Condensed" pitchFamily="2" charset="0"/>
                      <a:ea typeface="Roboto Condensed" pitchFamily="2" charset="0"/>
                    </a:defRPr>
                  </a:lvl1pPr>
                </a:lstStyle>
                <a:p>
                  <a:pPr algn="r"/>
                  <a:r>
                    <a:rPr lang="en-CA" sz="1800" b="1" dirty="0"/>
                    <a:t>Reptiles</a:t>
                  </a:r>
                  <a:endParaRPr lang="en-CA" sz="1800" b="1" i="1" dirty="0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54E7786-C9ED-F8AD-D29D-78F85E1F041F}"/>
                    </a:ext>
                  </a:extLst>
                </p:cNvPr>
                <p:cNvSpPr txBox="1"/>
                <p:nvPr/>
              </p:nvSpPr>
              <p:spPr>
                <a:xfrm>
                  <a:off x="1690822" y="6857368"/>
                  <a:ext cx="17182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600" b="0" i="0">
                      <a:effectLst/>
                      <a:latin typeface="Roboto Condensed" pitchFamily="2" charset="0"/>
                      <a:ea typeface="Roboto Condensed" pitchFamily="2" charset="0"/>
                    </a:defRPr>
                  </a:lvl1pPr>
                </a:lstStyle>
                <a:p>
                  <a:pPr algn="r"/>
                  <a:r>
                    <a:rPr lang="en-CA" sz="1800" b="1" dirty="0"/>
                    <a:t>Amphibians</a:t>
                  </a:r>
                  <a:endParaRPr lang="en-CA" sz="1800" b="1" i="1" dirty="0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2A1A0C0-D5E6-1A77-4A3F-D0227C66F32D}"/>
                    </a:ext>
                  </a:extLst>
                </p:cNvPr>
                <p:cNvSpPr txBox="1"/>
                <p:nvPr/>
              </p:nvSpPr>
              <p:spPr>
                <a:xfrm>
                  <a:off x="1690822" y="7398239"/>
                  <a:ext cx="17182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600" b="0" i="0">
                      <a:effectLst/>
                      <a:latin typeface="Roboto Condensed" pitchFamily="2" charset="0"/>
                      <a:ea typeface="Roboto Condensed" pitchFamily="2" charset="0"/>
                    </a:defRPr>
                  </a:lvl1pPr>
                </a:lstStyle>
                <a:p>
                  <a:pPr algn="r"/>
                  <a:r>
                    <a:rPr lang="en-CA" sz="1800" b="1" dirty="0"/>
                    <a:t>Plants</a:t>
                  </a:r>
                  <a:endParaRPr lang="en-CA" sz="1800" b="1" i="1" dirty="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C644551-AEA9-6C0A-0B54-81061AA14647}"/>
                    </a:ext>
                  </a:extLst>
                </p:cNvPr>
                <p:cNvSpPr txBox="1"/>
                <p:nvPr/>
              </p:nvSpPr>
              <p:spPr>
                <a:xfrm>
                  <a:off x="1690822" y="7939111"/>
                  <a:ext cx="17182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600" b="0" i="0">
                      <a:effectLst/>
                      <a:latin typeface="Roboto Condensed" pitchFamily="2" charset="0"/>
                      <a:ea typeface="Roboto Condensed" pitchFamily="2" charset="0"/>
                    </a:defRPr>
                  </a:lvl1pPr>
                </a:lstStyle>
                <a:p>
                  <a:pPr algn="r"/>
                  <a:r>
                    <a:rPr lang="en-CA" sz="1800" b="1" dirty="0"/>
                    <a:t>Mammals</a:t>
                  </a:r>
                  <a:endParaRPr lang="en-CA" sz="1800" b="1" i="1" dirty="0"/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00919C0-92BA-00CD-29D8-653824E77EDB}"/>
                    </a:ext>
                  </a:extLst>
                </p:cNvPr>
                <p:cNvSpPr txBox="1"/>
                <p:nvPr/>
              </p:nvSpPr>
              <p:spPr>
                <a:xfrm>
                  <a:off x="1680202" y="8479983"/>
                  <a:ext cx="17182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600" b="0" i="0">
                      <a:effectLst/>
                      <a:latin typeface="Roboto Condensed" pitchFamily="2" charset="0"/>
                      <a:ea typeface="Roboto Condensed" pitchFamily="2" charset="0"/>
                    </a:defRPr>
                  </a:lvl1pPr>
                </a:lstStyle>
                <a:p>
                  <a:pPr algn="r"/>
                  <a:r>
                    <a:rPr lang="en-CA" sz="1800" b="1" dirty="0"/>
                    <a:t>Butterflies</a:t>
                  </a:r>
                  <a:endParaRPr lang="en-CA" sz="1800" b="1" i="1" dirty="0"/>
                </a:p>
              </p:txBody>
            </p:sp>
          </p:grpSp>
          <p:pic>
            <p:nvPicPr>
              <p:cNvPr id="6" name="Picture 5" descr="A map of canada with different colored areas&#10;&#10;Description automatically generated">
                <a:extLst>
                  <a:ext uri="{FF2B5EF4-FFF2-40B4-BE49-F238E27FC236}">
                    <a16:creationId xmlns:a16="http://schemas.microsoft.com/office/drawing/2014/main" id="{1097B08F-4974-89E2-BEB0-C2B3B9DF2F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9343" t="4885" r="7997" b="8770"/>
              <a:stretch/>
            </p:blipFill>
            <p:spPr>
              <a:xfrm>
                <a:off x="2621748" y="-942072"/>
                <a:ext cx="6948503" cy="6844918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DA9446-9E8A-A269-CB06-E4768CF2D279}"/>
                  </a:ext>
                </a:extLst>
              </p:cNvPr>
              <p:cNvSpPr txBox="1"/>
              <p:nvPr/>
            </p:nvSpPr>
            <p:spPr>
              <a:xfrm>
                <a:off x="3392681" y="359278"/>
                <a:ext cx="17317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CA" sz="1400" b="0" i="0" u="none" strike="noStrike" dirty="0">
                    <a:solidFill>
                      <a:srgbClr val="000000"/>
                    </a:solidFill>
                    <a:effectLst/>
                    <a:latin typeface="Roboto Condensed" pitchFamily="2" charset="0"/>
                    <a:ea typeface="Roboto Condensed" pitchFamily="2" charset="0"/>
                  </a:rPr>
                  <a:t>Expedition Fiord Arctic Bioblitz</a:t>
                </a:r>
                <a:endParaRPr lang="en-CA" sz="1400" dirty="0">
                  <a:latin typeface="Roboto Condensed" pitchFamily="2" charset="0"/>
                  <a:ea typeface="Roboto Condensed" pitchFamily="2" charset="0"/>
                </a:endParaRP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CBD5E035-489D-8B33-9081-01A7C182C5E9}"/>
                  </a:ext>
                </a:extLst>
              </p:cNvPr>
              <p:cNvCxnSpPr>
                <a:stCxn id="7" idx="3"/>
              </p:cNvCxnSpPr>
              <p:nvPr/>
            </p:nvCxnSpPr>
            <p:spPr>
              <a:xfrm>
                <a:off x="5124382" y="620888"/>
                <a:ext cx="436775" cy="2616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85F2109-B299-01F3-EB68-9A5E874A7B7F}"/>
                  </a:ext>
                </a:extLst>
              </p:cNvPr>
              <p:cNvSpPr txBox="1"/>
              <p:nvPr/>
            </p:nvSpPr>
            <p:spPr>
              <a:xfrm>
                <a:off x="8137689" y="3058973"/>
                <a:ext cx="17317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CA" sz="1400" b="0" i="0" u="none" strike="noStrike" dirty="0">
                    <a:solidFill>
                      <a:srgbClr val="000000"/>
                    </a:solidFill>
                    <a:effectLst/>
                    <a:latin typeface="Roboto Condensed" pitchFamily="2" charset="0"/>
                    <a:ea typeface="Roboto Condensed" pitchFamily="2" charset="0"/>
                  </a:rPr>
                  <a:t>CBA 2025 </a:t>
                </a:r>
                <a:br>
                  <a:rPr lang="en-CA" sz="1400" b="0" i="0" u="none" strike="noStrike" dirty="0">
                    <a:solidFill>
                      <a:srgbClr val="000000"/>
                    </a:solidFill>
                    <a:effectLst/>
                    <a:latin typeface="Roboto Condensed" pitchFamily="2" charset="0"/>
                    <a:ea typeface="Roboto Condensed" pitchFamily="2" charset="0"/>
                  </a:rPr>
                </a:br>
                <a:r>
                  <a:rPr lang="en-CA" sz="1400" b="0" i="0" u="none" strike="noStrike" dirty="0">
                    <a:solidFill>
                      <a:srgbClr val="000000"/>
                    </a:solidFill>
                    <a:effectLst/>
                    <a:latin typeface="Roboto Condensed" pitchFamily="2" charset="0"/>
                    <a:ea typeface="Roboto Condensed" pitchFamily="2" charset="0"/>
                  </a:rPr>
                  <a:t>Bioblitz</a:t>
                </a:r>
                <a:endParaRPr lang="en-CA" sz="1400" dirty="0">
                  <a:latin typeface="Roboto Condensed" pitchFamily="2" charset="0"/>
                  <a:ea typeface="Roboto Condensed" pitchFamily="2" charset="0"/>
                </a:endParaRP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EE14568C-AEDB-4A4B-DC11-E1E495AF6C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19939" y="3582193"/>
                <a:ext cx="62986" cy="2632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B9F530F-1D3C-4C6A-C6A1-C9DDBA3C425C}"/>
                </a:ext>
              </a:extLst>
            </p:cNvPr>
            <p:cNvSpPr txBox="1"/>
            <p:nvPr/>
          </p:nvSpPr>
          <p:spPr>
            <a:xfrm>
              <a:off x="8036692" y="2443502"/>
              <a:ext cx="13515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CA" sz="1400" b="0" i="0" u="none" strike="noStrike" dirty="0">
                  <a:solidFill>
                    <a:srgbClr val="000000"/>
                  </a:solidFill>
                  <a:effectLst/>
                  <a:latin typeface="Roboto Condensed" pitchFamily="2" charset="0"/>
                  <a:ea typeface="Roboto Condensed" pitchFamily="2" charset="0"/>
                </a:rPr>
                <a:t>Limestone Barrens Bioblitz</a:t>
              </a:r>
              <a:endParaRPr lang="en-CA" sz="1400" dirty="0">
                <a:latin typeface="Roboto Condensed" pitchFamily="2" charset="0"/>
                <a:ea typeface="Roboto Condensed" pitchFamily="2" charset="0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474DFEC1-853A-374C-FD5E-8E7381D0AD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88896" y="2933722"/>
              <a:ext cx="173268" cy="6513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246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C5671-EABD-62E9-E3C1-986ECB138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DF26E13C-E79E-D674-1B97-55617FF84F07}"/>
              </a:ext>
            </a:extLst>
          </p:cNvPr>
          <p:cNvGrpSpPr/>
          <p:nvPr/>
        </p:nvGrpSpPr>
        <p:grpSpPr>
          <a:xfrm>
            <a:off x="1680202" y="-1332723"/>
            <a:ext cx="8446969" cy="11320728"/>
            <a:chOff x="1680202" y="-1332723"/>
            <a:chExt cx="8446969" cy="11320728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DD48302-36B7-54D3-8939-B0D083CAFD98}"/>
                </a:ext>
              </a:extLst>
            </p:cNvPr>
            <p:cNvSpPr/>
            <p:nvPr/>
          </p:nvSpPr>
          <p:spPr>
            <a:xfrm>
              <a:off x="1922106" y="-1332723"/>
              <a:ext cx="8078819" cy="113207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20" name="Picture 19" descr="A graph with different colored dots&#10;&#10;Description automatically generated">
              <a:extLst>
                <a:ext uri="{FF2B5EF4-FFF2-40B4-BE49-F238E27FC236}">
                  <a16:creationId xmlns:a16="http://schemas.microsoft.com/office/drawing/2014/main" id="{500F0B1E-D292-8539-98B4-CE7322E82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7434" b="9682"/>
            <a:stretch/>
          </p:blipFill>
          <p:spPr>
            <a:xfrm>
              <a:off x="3425551" y="5546836"/>
              <a:ext cx="6552406" cy="4325101"/>
            </a:xfrm>
            <a:prstGeom prst="rect">
              <a:avLst/>
            </a:prstGeom>
          </p:spPr>
        </p:pic>
        <p:pic>
          <p:nvPicPr>
            <p:cNvPr id="45" name="Picture 44" descr="A map of canada with different colored spots&#10;&#10;Description automatically generated">
              <a:extLst>
                <a:ext uri="{FF2B5EF4-FFF2-40B4-BE49-F238E27FC236}">
                  <a16:creationId xmlns:a16="http://schemas.microsoft.com/office/drawing/2014/main" id="{B78DA972-487A-3B66-39A4-32AB9D35B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218" t="6495" r="8196" b="9005"/>
            <a:stretch/>
          </p:blipFill>
          <p:spPr>
            <a:xfrm>
              <a:off x="2537370" y="-786435"/>
              <a:ext cx="7046711" cy="688276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D63A58-3E94-386D-7503-996B4854937D}"/>
                </a:ext>
              </a:extLst>
            </p:cNvPr>
            <p:cNvSpPr txBox="1"/>
            <p:nvPr/>
          </p:nvSpPr>
          <p:spPr>
            <a:xfrm>
              <a:off x="3288261" y="184032"/>
              <a:ext cx="17317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CA" sz="1400" b="0" i="0" u="none" strike="noStrike" dirty="0">
                  <a:solidFill>
                    <a:srgbClr val="000000"/>
                  </a:solidFill>
                  <a:effectLst/>
                  <a:latin typeface="Roboto Condensed" pitchFamily="2" charset="0"/>
                  <a:ea typeface="Roboto Condensed" pitchFamily="2" charset="0"/>
                </a:rPr>
                <a:t>Expedition Fiord Arctic Bioblitz</a:t>
              </a:r>
              <a:endParaRPr lang="en-CA" sz="1400" dirty="0">
                <a:latin typeface="Roboto Condensed" pitchFamily="2" charset="0"/>
                <a:ea typeface="Roboto Condensed" pitchFamily="2" charset="0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4CA986C-7BA9-EE42-A245-E4211D05A09F}"/>
                </a:ext>
              </a:extLst>
            </p:cNvPr>
            <p:cNvCxnSpPr>
              <a:cxnSpLocks/>
            </p:cNvCxnSpPr>
            <p:nvPr/>
          </p:nvCxnSpPr>
          <p:spPr>
            <a:xfrm>
              <a:off x="5015786" y="627860"/>
              <a:ext cx="436775" cy="2616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DAFA0C7-8BCB-7344-A375-AB0B4362F98F}"/>
                </a:ext>
              </a:extLst>
            </p:cNvPr>
            <p:cNvSpPr txBox="1"/>
            <p:nvPr/>
          </p:nvSpPr>
          <p:spPr>
            <a:xfrm>
              <a:off x="8186205" y="3169949"/>
              <a:ext cx="17317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CA" sz="1400" b="0" i="0" u="none" strike="noStrike" dirty="0">
                  <a:solidFill>
                    <a:srgbClr val="000000"/>
                  </a:solidFill>
                  <a:effectLst/>
                  <a:latin typeface="Roboto Condensed" pitchFamily="2" charset="0"/>
                  <a:ea typeface="Roboto Condensed" pitchFamily="2" charset="0"/>
                </a:rPr>
                <a:t>CBA 2025 </a:t>
              </a:r>
              <a:br>
                <a:rPr lang="en-CA" sz="1400" b="0" i="0" u="none" strike="noStrike" dirty="0">
                  <a:solidFill>
                    <a:srgbClr val="000000"/>
                  </a:solidFill>
                  <a:effectLst/>
                  <a:latin typeface="Roboto Condensed" pitchFamily="2" charset="0"/>
                  <a:ea typeface="Roboto Condensed" pitchFamily="2" charset="0"/>
                </a:rPr>
              </a:br>
              <a:r>
                <a:rPr lang="en-CA" sz="1400" b="0" i="0" u="none" strike="noStrike" dirty="0">
                  <a:solidFill>
                    <a:srgbClr val="000000"/>
                  </a:solidFill>
                  <a:effectLst/>
                  <a:latin typeface="Roboto Condensed" pitchFamily="2" charset="0"/>
                  <a:ea typeface="Roboto Condensed" pitchFamily="2" charset="0"/>
                </a:rPr>
                <a:t>Bioblitz</a:t>
              </a:r>
              <a:endParaRPr lang="en-CA" sz="1400" dirty="0">
                <a:latin typeface="Roboto Condensed" pitchFamily="2" charset="0"/>
                <a:ea typeface="Roboto Condensed" pitchFamily="2" charset="0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460BCCC-0CBD-1992-1F88-26FDB5FD4C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0782" y="3701563"/>
              <a:ext cx="62986" cy="2632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20F3EC9-25ED-ED5D-045E-7FFAC21E65FD}"/>
                </a:ext>
              </a:extLst>
            </p:cNvPr>
            <p:cNvSpPr txBox="1"/>
            <p:nvPr/>
          </p:nvSpPr>
          <p:spPr>
            <a:xfrm>
              <a:off x="8148377" y="2478763"/>
              <a:ext cx="13515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CA" sz="1400" b="0" i="0" u="none" strike="noStrike" dirty="0">
                  <a:solidFill>
                    <a:srgbClr val="000000"/>
                  </a:solidFill>
                  <a:effectLst/>
                  <a:latin typeface="Roboto Condensed" pitchFamily="2" charset="0"/>
                  <a:ea typeface="Roboto Condensed" pitchFamily="2" charset="0"/>
                </a:rPr>
                <a:t>Limestone Barrens Bioblitz</a:t>
              </a:r>
              <a:endParaRPr lang="en-CA" sz="1400" dirty="0">
                <a:latin typeface="Roboto Condensed" pitchFamily="2" charset="0"/>
                <a:ea typeface="Roboto Condensed" pitchFamily="2" charset="0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EB74D187-9E36-6517-AB4C-A6D177BDD7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3869" y="2985918"/>
              <a:ext cx="173268" cy="6513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2051621-1C77-3F04-5AFF-D806A4CAD325}"/>
                </a:ext>
              </a:extLst>
            </p:cNvPr>
            <p:cNvSpPr txBox="1"/>
            <p:nvPr/>
          </p:nvSpPr>
          <p:spPr>
            <a:xfrm>
              <a:off x="7279331" y="-480101"/>
              <a:ext cx="17317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CA" sz="1400" b="0" i="0" u="none" strike="noStrike" dirty="0">
                  <a:solidFill>
                    <a:srgbClr val="000000"/>
                  </a:solidFill>
                  <a:effectLst/>
                  <a:latin typeface="Roboto Condensed" pitchFamily="2" charset="0"/>
                  <a:ea typeface="Roboto Condensed" pitchFamily="2" charset="0"/>
                </a:rPr>
                <a:t>853</a:t>
              </a:r>
              <a:endParaRPr lang="en-CA" sz="1400" dirty="0">
                <a:latin typeface="Roboto Condensed" pitchFamily="2" charset="0"/>
                <a:ea typeface="Roboto Condensed" pitchFamily="2" charset="0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E0C1D21-97DF-03DF-D9A5-03232345B3BF}"/>
                </a:ext>
              </a:extLst>
            </p:cNvPr>
            <p:cNvGrpSpPr/>
            <p:nvPr/>
          </p:nvGrpSpPr>
          <p:grpSpPr>
            <a:xfrm>
              <a:off x="1680202" y="-1235851"/>
              <a:ext cx="8446969" cy="10246900"/>
              <a:chOff x="1680202" y="-1246736"/>
              <a:chExt cx="8446969" cy="10246900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B9C5C2-3D8E-68C8-C46F-D3021589466F}"/>
                  </a:ext>
                </a:extLst>
              </p:cNvPr>
              <p:cNvSpPr txBox="1"/>
              <p:nvPr/>
            </p:nvSpPr>
            <p:spPr>
              <a:xfrm>
                <a:off x="1922105" y="-1246736"/>
                <a:ext cx="80788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b="1" dirty="0">
                    <a:latin typeface="Roboto Condensed" pitchFamily="2" charset="0"/>
                    <a:ea typeface="Roboto Condensed" pitchFamily="2" charset="0"/>
                  </a:rPr>
                  <a:t>New species observed per site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45FEF0-58BC-7956-D5AE-6F51E3FCCBE1}"/>
                  </a:ext>
                </a:extLst>
              </p:cNvPr>
              <p:cNvSpPr txBox="1"/>
              <p:nvPr/>
            </p:nvSpPr>
            <p:spPr>
              <a:xfrm>
                <a:off x="8235589" y="6995868"/>
                <a:ext cx="16531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b="0" i="0" dirty="0">
                    <a:effectLst/>
                    <a:latin typeface="Roboto Condensed" pitchFamily="2" charset="0"/>
                    <a:ea typeface="Roboto Condensed" pitchFamily="2" charset="0"/>
                  </a:rPr>
                  <a:t>Fetid Marigold </a:t>
                </a:r>
                <a:br>
                  <a:rPr lang="en-CA" sz="1400" b="0" i="0" dirty="0">
                    <a:effectLst/>
                    <a:latin typeface="Roboto Condensed" pitchFamily="2" charset="0"/>
                    <a:ea typeface="Roboto Condensed" pitchFamily="2" charset="0"/>
                  </a:rPr>
                </a:br>
                <a:r>
                  <a:rPr lang="en-CA" sz="1400" b="0" i="1" dirty="0" err="1">
                    <a:effectLst/>
                    <a:latin typeface="Roboto Condensed" pitchFamily="2" charset="0"/>
                    <a:ea typeface="Roboto Condensed" pitchFamily="2" charset="0"/>
                  </a:rPr>
                  <a:t>Dyssodia</a:t>
                </a:r>
                <a:r>
                  <a:rPr lang="en-CA" sz="1400" b="0" i="1" dirty="0">
                    <a:effectLst/>
                    <a:latin typeface="Roboto Condensed" pitchFamily="2" charset="0"/>
                    <a:ea typeface="Roboto Condensed" pitchFamily="2" charset="0"/>
                  </a:rPr>
                  <a:t> </a:t>
                </a:r>
                <a:r>
                  <a:rPr lang="en-CA" sz="1400" b="0" i="1" dirty="0" err="1">
                    <a:effectLst/>
                    <a:latin typeface="Roboto Condensed" pitchFamily="2" charset="0"/>
                    <a:ea typeface="Roboto Condensed" pitchFamily="2" charset="0"/>
                  </a:rPr>
                  <a:t>papposa</a:t>
                </a:r>
                <a:endParaRPr lang="en-CA" sz="1400" b="0" i="0" dirty="0">
                  <a:effectLst/>
                  <a:latin typeface="Roboto Condensed" pitchFamily="2" charset="0"/>
                  <a:ea typeface="Roboto Condensed" pitchFamily="2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F19428F-14DB-75A3-DDCB-F3D28DF44AF4}"/>
                  </a:ext>
                </a:extLst>
              </p:cNvPr>
              <p:cNvSpPr txBox="1"/>
              <p:nvPr/>
            </p:nvSpPr>
            <p:spPr>
              <a:xfrm>
                <a:off x="5521934" y="6177455"/>
                <a:ext cx="171827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 b="0" i="0">
                    <a:effectLst/>
                    <a:latin typeface="Roboto Condensed" pitchFamily="2" charset="0"/>
                    <a:ea typeface="Roboto Condensed" pitchFamily="2" charset="0"/>
                  </a:defRPr>
                </a:lvl1pPr>
              </a:lstStyle>
              <a:p>
                <a:r>
                  <a:rPr lang="en-CA" sz="1400" dirty="0"/>
                  <a:t>Common </a:t>
                </a:r>
                <a:r>
                  <a:rPr lang="en-CA" sz="1400" dirty="0" err="1"/>
                  <a:t>Watersnake</a:t>
                </a:r>
                <a:endParaRPr lang="en-CA" sz="1400" dirty="0"/>
              </a:p>
              <a:p>
                <a:r>
                  <a:rPr lang="en-CA" sz="1400" i="1" dirty="0" err="1"/>
                  <a:t>Nerodia</a:t>
                </a:r>
                <a:r>
                  <a:rPr lang="en-CA" sz="1400" i="1" dirty="0"/>
                  <a:t> </a:t>
                </a:r>
                <a:r>
                  <a:rPr lang="en-CA" sz="1400" i="1" dirty="0" err="1"/>
                  <a:t>sipedon</a:t>
                </a:r>
                <a:endParaRPr lang="en-CA" sz="1400" i="1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6044C40-7B02-21AC-1117-5479212BACD8}"/>
                  </a:ext>
                </a:extLst>
              </p:cNvPr>
              <p:cNvSpPr txBox="1"/>
              <p:nvPr/>
            </p:nvSpPr>
            <p:spPr>
              <a:xfrm>
                <a:off x="7580212" y="7851052"/>
                <a:ext cx="254695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400" b="0" i="0" dirty="0">
                    <a:effectLst/>
                    <a:latin typeface="Roboto Condensed" pitchFamily="2" charset="0"/>
                    <a:ea typeface="Roboto Condensed" pitchFamily="2" charset="0"/>
                  </a:rPr>
                  <a:t>Vancouver Island Marmot</a:t>
                </a:r>
              </a:p>
              <a:p>
                <a:r>
                  <a:rPr lang="en-CA" sz="1400" b="0" i="1" dirty="0">
                    <a:effectLst/>
                    <a:latin typeface="Roboto Condensed" pitchFamily="2" charset="0"/>
                    <a:ea typeface="Roboto Condensed" pitchFamily="2" charset="0"/>
                  </a:rPr>
                  <a:t>Marmota </a:t>
                </a:r>
                <a:r>
                  <a:rPr lang="en-CA" sz="1400" b="0" i="1" dirty="0" err="1">
                    <a:effectLst/>
                    <a:latin typeface="Roboto Condensed" pitchFamily="2" charset="0"/>
                    <a:ea typeface="Roboto Condensed" pitchFamily="2" charset="0"/>
                  </a:rPr>
                  <a:t>vancouverensis</a:t>
                </a:r>
                <a:endParaRPr lang="en-CA" sz="1400" b="0" i="1" dirty="0">
                  <a:effectLst/>
                  <a:latin typeface="Roboto Condensed" pitchFamily="2" charset="0"/>
                  <a:ea typeface="Roboto Condensed" pitchFamily="2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3ED1302-0B2F-4818-776E-62E1A06ACBD8}"/>
                  </a:ext>
                </a:extLst>
              </p:cNvPr>
              <p:cNvSpPr txBox="1"/>
              <p:nvPr/>
            </p:nvSpPr>
            <p:spPr>
              <a:xfrm>
                <a:off x="5613693" y="8415389"/>
                <a:ext cx="43757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400" b="0" i="0">
                    <a:effectLst/>
                    <a:latin typeface="Roboto Condensed" pitchFamily="2" charset="0"/>
                    <a:ea typeface="Roboto Condensed" pitchFamily="2" charset="0"/>
                  </a:defRPr>
                </a:lvl1pPr>
              </a:lstStyle>
              <a:p>
                <a:r>
                  <a:rPr lang="en-CA" dirty="0"/>
                  <a:t>Clouded Sulphur</a:t>
                </a:r>
              </a:p>
              <a:p>
                <a:r>
                  <a:rPr lang="en-CA" i="1" dirty="0"/>
                  <a:t>Colias </a:t>
                </a:r>
                <a:r>
                  <a:rPr lang="en-CA" i="1" dirty="0" err="1"/>
                  <a:t>philodice</a:t>
                </a:r>
                <a:r>
                  <a:rPr lang="en-CA" i="1" dirty="0"/>
                  <a:t> 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4FFADB-F74E-116D-F1D5-ECD38F2363CC}"/>
                  </a:ext>
                </a:extLst>
              </p:cNvPr>
              <p:cNvSpPr txBox="1"/>
              <p:nvPr/>
            </p:nvSpPr>
            <p:spPr>
              <a:xfrm>
                <a:off x="5521934" y="6798154"/>
                <a:ext cx="204764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 b="0" i="0">
                    <a:effectLst/>
                    <a:latin typeface="Roboto Condensed" pitchFamily="2" charset="0"/>
                    <a:ea typeface="Roboto Condensed" pitchFamily="2" charset="0"/>
                  </a:defRPr>
                </a:lvl1pPr>
              </a:lstStyle>
              <a:p>
                <a:r>
                  <a:rPr lang="en-CA" sz="1400" dirty="0"/>
                  <a:t>Red-legged frog </a:t>
                </a:r>
                <a:br>
                  <a:rPr lang="en-CA" sz="1400" dirty="0"/>
                </a:br>
                <a:r>
                  <a:rPr lang="en-CA" sz="1400" i="1" dirty="0"/>
                  <a:t>Rana aurora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E4FF210C-154D-E9A2-FC57-6007519871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0920" y="6422410"/>
                <a:ext cx="6310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0EE586B1-48E5-C86C-4A01-4327F88F63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29670" y="8114129"/>
                <a:ext cx="45054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C7482208-ED7E-5EB5-4500-17EBFE548E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92049" y="8654650"/>
                <a:ext cx="45469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1255D950-3ADE-A056-0FA8-6F4D273968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12544" y="7021664"/>
                <a:ext cx="60939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F499BE8-A295-ED21-1D39-03D2EFE155F2}"/>
                  </a:ext>
                </a:extLst>
              </p:cNvPr>
              <p:cNvSpPr txBox="1"/>
              <p:nvPr/>
            </p:nvSpPr>
            <p:spPr>
              <a:xfrm>
                <a:off x="1690822" y="6265654"/>
                <a:ext cx="1718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 b="0" i="0">
                    <a:effectLst/>
                    <a:latin typeface="Roboto Condensed" pitchFamily="2" charset="0"/>
                    <a:ea typeface="Roboto Condensed" pitchFamily="2" charset="0"/>
                  </a:defRPr>
                </a:lvl1pPr>
              </a:lstStyle>
              <a:p>
                <a:pPr algn="r"/>
                <a:r>
                  <a:rPr lang="en-CA" sz="1800" b="1" dirty="0"/>
                  <a:t>Reptiles</a:t>
                </a:r>
                <a:endParaRPr lang="en-CA" sz="1800" b="1" i="1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E77108-DF25-7F5B-4397-18D3E8ABD51B}"/>
                  </a:ext>
                </a:extLst>
              </p:cNvPr>
              <p:cNvSpPr txBox="1"/>
              <p:nvPr/>
            </p:nvSpPr>
            <p:spPr>
              <a:xfrm>
                <a:off x="1690822" y="6857368"/>
                <a:ext cx="1718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 b="0" i="0">
                    <a:effectLst/>
                    <a:latin typeface="Roboto Condensed" pitchFamily="2" charset="0"/>
                    <a:ea typeface="Roboto Condensed" pitchFamily="2" charset="0"/>
                  </a:defRPr>
                </a:lvl1pPr>
              </a:lstStyle>
              <a:p>
                <a:pPr algn="r"/>
                <a:r>
                  <a:rPr lang="en-CA" sz="1800" b="1" dirty="0"/>
                  <a:t>Amphibians</a:t>
                </a:r>
                <a:endParaRPr lang="en-CA" sz="1800" b="1" i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BF0D8A7-A78D-58EA-9E4A-0878661666F1}"/>
                  </a:ext>
                </a:extLst>
              </p:cNvPr>
              <p:cNvSpPr txBox="1"/>
              <p:nvPr/>
            </p:nvSpPr>
            <p:spPr>
              <a:xfrm>
                <a:off x="1690822" y="7398239"/>
                <a:ext cx="1718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 b="0" i="0">
                    <a:effectLst/>
                    <a:latin typeface="Roboto Condensed" pitchFamily="2" charset="0"/>
                    <a:ea typeface="Roboto Condensed" pitchFamily="2" charset="0"/>
                  </a:defRPr>
                </a:lvl1pPr>
              </a:lstStyle>
              <a:p>
                <a:pPr algn="r"/>
                <a:r>
                  <a:rPr lang="en-CA" sz="1800" b="1" dirty="0"/>
                  <a:t>Plants</a:t>
                </a:r>
                <a:endParaRPr lang="en-CA" sz="1800" b="1" i="1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201A54C-FDCC-FEF1-D6F6-E87B522B5FFA}"/>
                  </a:ext>
                </a:extLst>
              </p:cNvPr>
              <p:cNvSpPr txBox="1"/>
              <p:nvPr/>
            </p:nvSpPr>
            <p:spPr>
              <a:xfrm>
                <a:off x="1690822" y="7939111"/>
                <a:ext cx="1718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 b="0" i="0">
                    <a:effectLst/>
                    <a:latin typeface="Roboto Condensed" pitchFamily="2" charset="0"/>
                    <a:ea typeface="Roboto Condensed" pitchFamily="2" charset="0"/>
                  </a:defRPr>
                </a:lvl1pPr>
              </a:lstStyle>
              <a:p>
                <a:pPr algn="r"/>
                <a:r>
                  <a:rPr lang="en-CA" sz="1800" b="1" dirty="0"/>
                  <a:t>Mammals</a:t>
                </a:r>
                <a:endParaRPr lang="en-CA" sz="1800" b="1" i="1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46A768F-EE41-90F4-CD8C-6EEA657AB45A}"/>
                  </a:ext>
                </a:extLst>
              </p:cNvPr>
              <p:cNvSpPr txBox="1"/>
              <p:nvPr/>
            </p:nvSpPr>
            <p:spPr>
              <a:xfrm>
                <a:off x="1680202" y="8479983"/>
                <a:ext cx="1718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 b="0" i="0">
                    <a:effectLst/>
                    <a:latin typeface="Roboto Condensed" pitchFamily="2" charset="0"/>
                    <a:ea typeface="Roboto Condensed" pitchFamily="2" charset="0"/>
                  </a:defRPr>
                </a:lvl1pPr>
              </a:lstStyle>
              <a:p>
                <a:pPr algn="r"/>
                <a:r>
                  <a:rPr lang="en-CA" sz="1800" b="1" dirty="0"/>
                  <a:t>Butterflies</a:t>
                </a:r>
                <a:endParaRPr lang="en-CA" sz="1800" b="1" i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162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2741</TotalTime>
  <Words>96</Words>
  <Application>Microsoft Macintosh PowerPoint</Application>
  <PresentationFormat>Widescreen</PresentationFormat>
  <Paragraphs>40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Roboto Condensed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Hébert</dc:creator>
  <cp:lastModifiedBy>Katherine Hébert</cp:lastModifiedBy>
  <cp:revision>5</cp:revision>
  <dcterms:created xsi:type="dcterms:W3CDTF">2026-04-29T20:28:15Z</dcterms:created>
  <dcterms:modified xsi:type="dcterms:W3CDTF">2026-05-25T19:25:10Z</dcterms:modified>
</cp:coreProperties>
</file>