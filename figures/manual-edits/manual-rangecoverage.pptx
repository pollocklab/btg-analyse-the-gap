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7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8DB87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1"/>
    <p:restoredTop sz="94762"/>
  </p:normalViewPr>
  <p:slideViewPr>
    <p:cSldViewPr snapToGrid="0">
      <p:cViewPr>
        <p:scale>
          <a:sx n="54" d="100"/>
          <a:sy n="54" d="100"/>
        </p:scale>
        <p:origin x="2056" y="15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B7A1B2-D194-5FBB-53C9-76C25990071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D2B6C2B-3BF1-C786-5518-614E13891E4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41FF0D-F61F-4794-269D-CD4E948CCD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16F19D-6681-6141-A356-A6917F007572}" type="datetimeFigureOut">
              <a:rPr lang="en-CA" smtClean="0"/>
              <a:t>2026-05-01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E0C6B8-D10D-6849-9EF7-A4F299C5EF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9B1CAC6-6A7A-E6AA-A584-1807C5F37E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F3092D-6655-C146-B6D6-2A9D1F89C0F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7736191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405A7E-B009-406F-4365-49A264087E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22D756-E931-5C6A-B107-58F76001DD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32221DC-1B0D-D5FD-97EA-AB2FA27390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16F19D-6681-6141-A356-A6917F007572}" type="datetimeFigureOut">
              <a:rPr lang="en-CA" smtClean="0"/>
              <a:t>2026-05-01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FDA4EE-0209-5769-B6DE-36306E557C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9AA166-BFE2-67E1-C237-C664F9D55B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F3092D-6655-C146-B6D6-2A9D1F89C0F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63836308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36D599-20DB-CEF2-7A89-BEA2332A2A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FAF0DF3-F1E9-A5B1-C565-2FC1B515A9F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9FB323A-6208-9B99-E724-7A3573B28E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16F19D-6681-6141-A356-A6917F007572}" type="datetimeFigureOut">
              <a:rPr lang="en-CA" smtClean="0"/>
              <a:t>2026-05-01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074086-F14D-AEDA-007F-82C64D90FA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D1979D6-E4B2-2173-A994-143733FDFA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F3092D-6655-C146-B6D6-2A9D1F89C0F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3383389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479DCB-C553-1A87-559C-FF266E837F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D68630-1C9D-4420-DED0-7A5FBE63CE4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76DEF50-F2DD-CCA4-CA58-12530B6662E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4CF7BD5-0842-2093-8CFE-5500E2664B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16F19D-6681-6141-A356-A6917F007572}" type="datetimeFigureOut">
              <a:rPr lang="en-CA" smtClean="0"/>
              <a:t>2026-05-01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C614BB3-4DF8-6F51-43B7-BE8BF0406C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7B41361-7452-894E-9AC7-D4A4ABBD8C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F3092D-6655-C146-B6D6-2A9D1F89C0F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4217919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EA3665-AFF6-B502-3E6C-12695D70D4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296FA43-C2E8-134A-EEAC-0ED4DC914E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D86250E-B726-1A2F-525E-33E9130E5A0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79AA7B9-A7C7-1EA9-72A0-8F9731A829C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CA5D7CB-1CA0-12A0-6387-D55F357CD0A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233A625-AB18-1A1B-9FAF-21A12F4B11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16F19D-6681-6141-A356-A6917F007572}" type="datetimeFigureOut">
              <a:rPr lang="en-CA" smtClean="0"/>
              <a:t>2026-05-01</a:t>
            </a:fld>
            <a:endParaRPr lang="en-C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0D1F8E0-D291-F80B-398E-CC9A758172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66141D6-AF08-FFC2-F333-D649BA6887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F3092D-6655-C146-B6D6-2A9D1F89C0F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0349763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291F16-AE96-E38C-B8E6-F0EDEDE961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6F7D8E5-52EA-349B-077D-EACE830346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16F19D-6681-6141-A356-A6917F007572}" type="datetimeFigureOut">
              <a:rPr lang="en-CA" smtClean="0"/>
              <a:t>2026-05-01</a:t>
            </a:fld>
            <a:endParaRPr lang="en-C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6CDEE25-7A6B-F736-E17E-18F844A172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1D26216-BAE4-6543-AC69-D8CE2D719E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F3092D-6655-C146-B6D6-2A9D1F89C0F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0942534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7643827-6E64-9C11-A9C3-9FD1EBB888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16F19D-6681-6141-A356-A6917F007572}" type="datetimeFigureOut">
              <a:rPr lang="en-CA" smtClean="0"/>
              <a:t>2026-05-01</a:t>
            </a:fld>
            <a:endParaRPr lang="en-C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4B3817D-EF6E-3C58-434E-C21A5C6BF5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2D59C6C-E17B-1850-80F8-E2078DBFCF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F3092D-6655-C146-B6D6-2A9D1F89C0F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9683635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7734E4-E0A9-F426-A832-586E2931B7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CEC0ED-F198-8E94-7A12-3EE703725A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C9E2AD1-D7E3-0DF0-F8C2-1E5A3129888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11ABC18-3F16-21A9-F961-D4137086DE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16F19D-6681-6141-A356-A6917F007572}" type="datetimeFigureOut">
              <a:rPr lang="en-CA" smtClean="0"/>
              <a:t>2026-05-01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7092561-FEF3-1847-FD46-E0949A26A5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A6741BE-59AA-F580-C65A-83FCD7E5DA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F3092D-6655-C146-B6D6-2A9D1F89C0F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1629725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4B53DC-4853-62A0-4604-CD108D778E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A1557FF-E127-0E05-DF25-0E472D012A7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72B4D0A-374A-654F-A661-FA04525344C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AF255A0-6C3F-E5FB-A3CD-DCCAB3C215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16F19D-6681-6141-A356-A6917F007572}" type="datetimeFigureOut">
              <a:rPr lang="en-CA" smtClean="0"/>
              <a:t>2026-05-01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2D0F521-CAA3-4AF0-4AA7-74CD1D93EB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26BB365-813E-1DA2-D838-65C4EAE1F6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F3092D-6655-C146-B6D6-2A9D1F89C0F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08877454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067C6C-1AE3-8F43-8BBD-A6E5E4E406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16F7D1F-2DD6-E56D-82F8-79739A1F7C7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C3C726-BC6E-302F-03D1-47AF719302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16F19D-6681-6141-A356-A6917F007572}" type="datetimeFigureOut">
              <a:rPr lang="en-CA" smtClean="0"/>
              <a:t>2026-05-01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59F0BC8-F0D4-CD01-47F1-1FD1049FBE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DBAE12-BC71-5529-E3BF-2A79844039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F3092D-6655-C146-B6D6-2A9D1F89C0F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6439442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098F390-AA8D-8209-0BAB-AB1A2E80A33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92E29D4-C789-D7DB-7931-E47C6DE6C53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32EEB65-FDB5-54E0-CAC6-C0814066D0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16F19D-6681-6141-A356-A6917F007572}" type="datetimeFigureOut">
              <a:rPr lang="en-CA" smtClean="0"/>
              <a:t>2026-05-01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B3554C4-728F-E6CC-E1D1-A17488A187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0502729-EE0B-1527-BBFB-8526BC5805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F3092D-6655-C146-B6D6-2A9D1F89C0F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9210724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5910516-F105-002C-6B21-A0BF5AA5EE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C0389C9-8CB0-471A-6494-AB71FA643E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3FE2EA-8CB2-64EA-B31E-B7B4C949651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E16F19D-6681-6141-A356-A6917F007572}" type="datetimeFigureOut">
              <a:rPr lang="en-CA" smtClean="0"/>
              <a:t>2026-05-01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2244848-131E-76E0-7D6E-82662F2426B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0FD990-E7E7-237F-EEB5-8908806E573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0F3092D-6655-C146-B6D6-2A9D1F89C0F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1507917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42D4A4-F694-F25F-7BD3-6EAC8B8A8C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0" name="Group 39">
            <a:extLst>
              <a:ext uri="{FF2B5EF4-FFF2-40B4-BE49-F238E27FC236}">
                <a16:creationId xmlns:a16="http://schemas.microsoft.com/office/drawing/2014/main" id="{9C81884C-8FC1-BD2C-52E8-403694E538E7}"/>
              </a:ext>
            </a:extLst>
          </p:cNvPr>
          <p:cNvGrpSpPr/>
          <p:nvPr/>
        </p:nvGrpSpPr>
        <p:grpSpPr>
          <a:xfrm>
            <a:off x="1680202" y="-1343608"/>
            <a:ext cx="8446969" cy="11320728"/>
            <a:chOff x="1680202" y="-1343608"/>
            <a:chExt cx="8446969" cy="11320728"/>
          </a:xfrm>
        </p:grpSpPr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BCDA4B85-5FB8-EA48-2193-74B52C81AF5B}"/>
                </a:ext>
              </a:extLst>
            </p:cNvPr>
            <p:cNvSpPr/>
            <p:nvPr/>
          </p:nvSpPr>
          <p:spPr>
            <a:xfrm>
              <a:off x="1922106" y="-1343608"/>
              <a:ext cx="8078819" cy="1132072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grpSp>
          <p:nvGrpSpPr>
            <p:cNvPr id="36" name="Group 35">
              <a:extLst>
                <a:ext uri="{FF2B5EF4-FFF2-40B4-BE49-F238E27FC236}">
                  <a16:creationId xmlns:a16="http://schemas.microsoft.com/office/drawing/2014/main" id="{116EE50D-9DC8-D00B-A3DB-5A93C96558A7}"/>
                </a:ext>
              </a:extLst>
            </p:cNvPr>
            <p:cNvGrpSpPr/>
            <p:nvPr/>
          </p:nvGrpSpPr>
          <p:grpSpPr>
            <a:xfrm>
              <a:off x="1680202" y="-1246736"/>
              <a:ext cx="8446969" cy="11223856"/>
              <a:chOff x="1680202" y="-1246736"/>
              <a:chExt cx="8446969" cy="11223856"/>
            </a:xfrm>
          </p:grpSpPr>
          <p:pic>
            <p:nvPicPr>
              <p:cNvPr id="3" name="Picture 2" descr="A graph of different colored dots&#10;&#10;Description automatically generated">
                <a:extLst>
                  <a:ext uri="{FF2B5EF4-FFF2-40B4-BE49-F238E27FC236}">
                    <a16:creationId xmlns:a16="http://schemas.microsoft.com/office/drawing/2014/main" id="{0CFAEE01-C1F4-C52A-DFE0-50A04D621F9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rcRect l="27530" b="7853"/>
              <a:stretch/>
            </p:blipFill>
            <p:spPr>
              <a:xfrm>
                <a:off x="3414931" y="5535951"/>
                <a:ext cx="6585994" cy="4441169"/>
              </a:xfrm>
              <a:prstGeom prst="rect">
                <a:avLst/>
              </a:prstGeom>
            </p:spPr>
          </p:pic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CA3E905E-D432-47E8-341C-073FC5CBAF02}"/>
                  </a:ext>
                </a:extLst>
              </p:cNvPr>
              <p:cNvSpPr txBox="1"/>
              <p:nvPr/>
            </p:nvSpPr>
            <p:spPr>
              <a:xfrm>
                <a:off x="1922105" y="-1246736"/>
                <a:ext cx="807881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CA" b="1" dirty="0">
                    <a:latin typeface="Roboto Condensed" pitchFamily="2" charset="0"/>
                    <a:ea typeface="Roboto Condensed" pitchFamily="2" charset="0"/>
                  </a:rPr>
                  <a:t>New species observed per site</a:t>
                </a:r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5C0FEB8F-FA76-1FC5-1311-25D30F0732E0}"/>
                  </a:ext>
                </a:extLst>
              </p:cNvPr>
              <p:cNvSpPr txBox="1"/>
              <p:nvPr/>
            </p:nvSpPr>
            <p:spPr>
              <a:xfrm>
                <a:off x="8235589" y="6995868"/>
                <a:ext cx="1653150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CA" sz="1400" b="0" i="0" dirty="0">
                    <a:effectLst/>
                    <a:latin typeface="Roboto Condensed" pitchFamily="2" charset="0"/>
                    <a:ea typeface="Roboto Condensed" pitchFamily="2" charset="0"/>
                  </a:rPr>
                  <a:t>Fetid Marigold </a:t>
                </a:r>
                <a:br>
                  <a:rPr lang="en-CA" sz="1400" b="0" i="0" dirty="0">
                    <a:effectLst/>
                    <a:latin typeface="Roboto Condensed" pitchFamily="2" charset="0"/>
                    <a:ea typeface="Roboto Condensed" pitchFamily="2" charset="0"/>
                  </a:rPr>
                </a:br>
                <a:r>
                  <a:rPr lang="en-CA" sz="1400" b="0" i="1" dirty="0" err="1">
                    <a:effectLst/>
                    <a:latin typeface="Roboto Condensed" pitchFamily="2" charset="0"/>
                    <a:ea typeface="Roboto Condensed" pitchFamily="2" charset="0"/>
                  </a:rPr>
                  <a:t>Dyssodia</a:t>
                </a:r>
                <a:r>
                  <a:rPr lang="en-CA" sz="1400" b="0" i="1" dirty="0">
                    <a:effectLst/>
                    <a:latin typeface="Roboto Condensed" pitchFamily="2" charset="0"/>
                    <a:ea typeface="Roboto Condensed" pitchFamily="2" charset="0"/>
                  </a:rPr>
                  <a:t> </a:t>
                </a:r>
                <a:r>
                  <a:rPr lang="en-CA" sz="1400" b="0" i="1" dirty="0" err="1">
                    <a:effectLst/>
                    <a:latin typeface="Roboto Condensed" pitchFamily="2" charset="0"/>
                    <a:ea typeface="Roboto Condensed" pitchFamily="2" charset="0"/>
                  </a:rPr>
                  <a:t>papposa</a:t>
                </a:r>
                <a:endParaRPr lang="en-CA" sz="1400" b="0" i="0" dirty="0">
                  <a:effectLst/>
                  <a:latin typeface="Roboto Condensed" pitchFamily="2" charset="0"/>
                  <a:ea typeface="Roboto Condensed" pitchFamily="2" charset="0"/>
                </a:endParaRP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71A6322D-7225-36AF-EFBB-5AD11E4C2403}"/>
                  </a:ext>
                </a:extLst>
              </p:cNvPr>
              <p:cNvSpPr txBox="1"/>
              <p:nvPr/>
            </p:nvSpPr>
            <p:spPr>
              <a:xfrm>
                <a:off x="5646745" y="6204099"/>
                <a:ext cx="1718277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en-US"/>
                </a:defPPr>
                <a:lvl1pPr>
                  <a:defRPr sz="1600" b="0" i="0">
                    <a:effectLst/>
                    <a:latin typeface="Roboto Condensed" pitchFamily="2" charset="0"/>
                    <a:ea typeface="Roboto Condensed" pitchFamily="2" charset="0"/>
                  </a:defRPr>
                </a:lvl1pPr>
              </a:lstStyle>
              <a:p>
                <a:r>
                  <a:rPr lang="en-CA" sz="1400" dirty="0"/>
                  <a:t>Blanding’s Turtle </a:t>
                </a:r>
              </a:p>
              <a:p>
                <a:r>
                  <a:rPr lang="en-CA" sz="1400" i="1" dirty="0" err="1"/>
                  <a:t>Emydoidea</a:t>
                </a:r>
                <a:r>
                  <a:rPr lang="en-CA" sz="1400" i="1" dirty="0"/>
                  <a:t> </a:t>
                </a:r>
                <a:r>
                  <a:rPr lang="en-CA" sz="1400" i="1" dirty="0" err="1"/>
                  <a:t>blandingii</a:t>
                </a:r>
                <a:endParaRPr lang="en-CA" sz="1400" i="1" dirty="0"/>
              </a:p>
            </p:txBody>
          </p: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469232AA-ECC9-809C-5DE4-11F959F5D248}"/>
                  </a:ext>
                </a:extLst>
              </p:cNvPr>
              <p:cNvSpPr txBox="1"/>
              <p:nvPr/>
            </p:nvSpPr>
            <p:spPr>
              <a:xfrm>
                <a:off x="7580212" y="7851052"/>
                <a:ext cx="2546959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CA" sz="1400" b="0" i="0" dirty="0">
                    <a:effectLst/>
                    <a:latin typeface="Roboto Condensed" pitchFamily="2" charset="0"/>
                    <a:ea typeface="Roboto Condensed" pitchFamily="2" charset="0"/>
                  </a:rPr>
                  <a:t>Vancouver Island Marmot</a:t>
                </a:r>
              </a:p>
              <a:p>
                <a:r>
                  <a:rPr lang="en-CA" sz="1400" b="0" i="1" dirty="0">
                    <a:effectLst/>
                    <a:latin typeface="Roboto Condensed" pitchFamily="2" charset="0"/>
                    <a:ea typeface="Roboto Condensed" pitchFamily="2" charset="0"/>
                  </a:rPr>
                  <a:t>Marmota </a:t>
                </a:r>
                <a:r>
                  <a:rPr lang="en-CA" sz="1400" b="0" i="1" dirty="0" err="1">
                    <a:effectLst/>
                    <a:latin typeface="Roboto Condensed" pitchFamily="2" charset="0"/>
                    <a:ea typeface="Roboto Condensed" pitchFamily="2" charset="0"/>
                  </a:rPr>
                  <a:t>vancouverensis</a:t>
                </a:r>
                <a:endParaRPr lang="en-CA" sz="1400" b="0" i="1" dirty="0">
                  <a:effectLst/>
                  <a:latin typeface="Roboto Condensed" pitchFamily="2" charset="0"/>
                  <a:ea typeface="Roboto Condensed" pitchFamily="2" charset="0"/>
                </a:endParaRPr>
              </a:p>
            </p:txBody>
          </p:sp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0AD1CB78-99F8-B3C5-4D9F-8123809D6ED5}"/>
                  </a:ext>
                </a:extLst>
              </p:cNvPr>
              <p:cNvSpPr txBox="1"/>
              <p:nvPr/>
            </p:nvSpPr>
            <p:spPr>
              <a:xfrm>
                <a:off x="5625176" y="8362386"/>
                <a:ext cx="4375748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en-US"/>
                </a:defPPr>
                <a:lvl1pPr>
                  <a:defRPr sz="1600" b="0" i="0">
                    <a:effectLst/>
                    <a:latin typeface="Roboto Condensed" pitchFamily="2" charset="0"/>
                    <a:ea typeface="Roboto Condensed" pitchFamily="2" charset="0"/>
                  </a:defRPr>
                </a:lvl1pPr>
              </a:lstStyle>
              <a:p>
                <a:r>
                  <a:rPr lang="en-CA" sz="1400" dirty="0"/>
                  <a:t>California Tortoiseshell </a:t>
                </a:r>
              </a:p>
              <a:p>
                <a:r>
                  <a:rPr lang="en-CA" sz="1400" i="1" dirty="0" err="1"/>
                  <a:t>Nymphalis</a:t>
                </a:r>
                <a:r>
                  <a:rPr lang="en-CA" sz="1400" i="1" dirty="0"/>
                  <a:t> californica </a:t>
                </a:r>
              </a:p>
            </p:txBody>
          </p:sp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9C4BE664-A364-9531-31BD-DC727A1E40D4}"/>
                  </a:ext>
                </a:extLst>
              </p:cNvPr>
              <p:cNvSpPr txBox="1"/>
              <p:nvPr/>
            </p:nvSpPr>
            <p:spPr>
              <a:xfrm>
                <a:off x="5619344" y="6816498"/>
                <a:ext cx="2047644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en-US"/>
                </a:defPPr>
                <a:lvl1pPr>
                  <a:defRPr sz="1600" b="0" i="0">
                    <a:effectLst/>
                    <a:latin typeface="Roboto Condensed" pitchFamily="2" charset="0"/>
                    <a:ea typeface="Roboto Condensed" pitchFamily="2" charset="0"/>
                  </a:defRPr>
                </a:lvl1pPr>
              </a:lstStyle>
              <a:p>
                <a:r>
                  <a:rPr lang="en-CA" sz="1400" dirty="0"/>
                  <a:t>Spring Salamander</a:t>
                </a:r>
              </a:p>
              <a:p>
                <a:r>
                  <a:rPr lang="en-CA" sz="1400" i="1" dirty="0" err="1"/>
                  <a:t>Gyrinophilus</a:t>
                </a:r>
                <a:r>
                  <a:rPr lang="en-CA" sz="1400" i="1" dirty="0"/>
                  <a:t> </a:t>
                </a:r>
                <a:r>
                  <a:rPr lang="en-CA" sz="1400" i="1" dirty="0" err="1"/>
                  <a:t>porphyriticus</a:t>
                </a:r>
                <a:endParaRPr lang="en-CA" sz="1400" i="1" dirty="0"/>
              </a:p>
            </p:txBody>
          </p:sp>
          <p:cxnSp>
            <p:nvCxnSpPr>
              <p:cNvPr id="23" name="Straight Arrow Connector 22">
                <a:extLst>
                  <a:ext uri="{FF2B5EF4-FFF2-40B4-BE49-F238E27FC236}">
                    <a16:creationId xmlns:a16="http://schemas.microsoft.com/office/drawing/2014/main" id="{45B9CE47-56CC-2C60-26AB-144E4280EDC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245721" y="6465709"/>
                <a:ext cx="427528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9" name="Straight Arrow Connector 28">
                <a:extLst>
                  <a:ext uri="{FF2B5EF4-FFF2-40B4-BE49-F238E27FC236}">
                    <a16:creationId xmlns:a16="http://schemas.microsoft.com/office/drawing/2014/main" id="{90A4AC86-EB25-6703-90AC-C3717911749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7142922" y="8139166"/>
                <a:ext cx="450542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1" name="Straight Arrow Connector 30">
                <a:extLst>
                  <a:ext uri="{FF2B5EF4-FFF2-40B4-BE49-F238E27FC236}">
                    <a16:creationId xmlns:a16="http://schemas.microsoft.com/office/drawing/2014/main" id="{073F7B2F-029D-5026-FB78-AB944170E82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192049" y="8584352"/>
                <a:ext cx="454696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2" name="Straight Arrow Connector 31">
                <a:extLst>
                  <a:ext uri="{FF2B5EF4-FFF2-40B4-BE49-F238E27FC236}">
                    <a16:creationId xmlns:a16="http://schemas.microsoft.com/office/drawing/2014/main" id="{02B60A8A-2C31-8DA4-5D93-A408B0C9DE3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124382" y="7086059"/>
                <a:ext cx="494962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A87C2C98-34F5-3874-2356-D786060F0E3B}"/>
                  </a:ext>
                </a:extLst>
              </p:cNvPr>
              <p:cNvSpPr txBox="1"/>
              <p:nvPr/>
            </p:nvSpPr>
            <p:spPr>
              <a:xfrm>
                <a:off x="1690822" y="6265654"/>
                <a:ext cx="171827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en-US"/>
                </a:defPPr>
                <a:lvl1pPr>
                  <a:defRPr sz="1600" b="0" i="0">
                    <a:effectLst/>
                    <a:latin typeface="Roboto Condensed" pitchFamily="2" charset="0"/>
                    <a:ea typeface="Roboto Condensed" pitchFamily="2" charset="0"/>
                  </a:defRPr>
                </a:lvl1pPr>
              </a:lstStyle>
              <a:p>
                <a:pPr algn="r"/>
                <a:r>
                  <a:rPr lang="en-CA" sz="1800" b="1" dirty="0"/>
                  <a:t>Reptiles</a:t>
                </a:r>
                <a:endParaRPr lang="en-CA" sz="1800" b="1" i="1" dirty="0"/>
              </a:p>
            </p:txBody>
          </p:sp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D54E7786-C9ED-F8AD-D29D-78F85E1F041F}"/>
                  </a:ext>
                </a:extLst>
              </p:cNvPr>
              <p:cNvSpPr txBox="1"/>
              <p:nvPr/>
            </p:nvSpPr>
            <p:spPr>
              <a:xfrm>
                <a:off x="1690822" y="6857368"/>
                <a:ext cx="171827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en-US"/>
                </a:defPPr>
                <a:lvl1pPr>
                  <a:defRPr sz="1600" b="0" i="0">
                    <a:effectLst/>
                    <a:latin typeface="Roboto Condensed" pitchFamily="2" charset="0"/>
                    <a:ea typeface="Roboto Condensed" pitchFamily="2" charset="0"/>
                  </a:defRPr>
                </a:lvl1pPr>
              </a:lstStyle>
              <a:p>
                <a:pPr algn="r"/>
                <a:r>
                  <a:rPr lang="en-CA" sz="1800" b="1" dirty="0"/>
                  <a:t>Amphibians</a:t>
                </a:r>
                <a:endParaRPr lang="en-CA" sz="1800" b="1" i="1" dirty="0"/>
              </a:p>
            </p:txBody>
          </p:sp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A2A1A0C0-D5E6-1A77-4A3F-D0227C66F32D}"/>
                  </a:ext>
                </a:extLst>
              </p:cNvPr>
              <p:cNvSpPr txBox="1"/>
              <p:nvPr/>
            </p:nvSpPr>
            <p:spPr>
              <a:xfrm>
                <a:off x="1690822" y="7398239"/>
                <a:ext cx="171827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en-US"/>
                </a:defPPr>
                <a:lvl1pPr>
                  <a:defRPr sz="1600" b="0" i="0">
                    <a:effectLst/>
                    <a:latin typeface="Roboto Condensed" pitchFamily="2" charset="0"/>
                    <a:ea typeface="Roboto Condensed" pitchFamily="2" charset="0"/>
                  </a:defRPr>
                </a:lvl1pPr>
              </a:lstStyle>
              <a:p>
                <a:pPr algn="r"/>
                <a:r>
                  <a:rPr lang="en-CA" sz="1800" b="1" dirty="0"/>
                  <a:t>Plants</a:t>
                </a:r>
                <a:endParaRPr lang="en-CA" sz="1800" b="1" i="1" dirty="0"/>
              </a:p>
            </p:txBody>
          </p:sp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1C644551-AEA9-6C0A-0B54-81061AA14647}"/>
                  </a:ext>
                </a:extLst>
              </p:cNvPr>
              <p:cNvSpPr txBox="1"/>
              <p:nvPr/>
            </p:nvSpPr>
            <p:spPr>
              <a:xfrm>
                <a:off x="1690822" y="7939111"/>
                <a:ext cx="171827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en-US"/>
                </a:defPPr>
                <a:lvl1pPr>
                  <a:defRPr sz="1600" b="0" i="0">
                    <a:effectLst/>
                    <a:latin typeface="Roboto Condensed" pitchFamily="2" charset="0"/>
                    <a:ea typeface="Roboto Condensed" pitchFamily="2" charset="0"/>
                  </a:defRPr>
                </a:lvl1pPr>
              </a:lstStyle>
              <a:p>
                <a:pPr algn="r"/>
                <a:r>
                  <a:rPr lang="en-CA" sz="1800" b="1" dirty="0"/>
                  <a:t>Mammals</a:t>
                </a:r>
                <a:endParaRPr lang="en-CA" sz="1800" b="1" i="1" dirty="0"/>
              </a:p>
            </p:txBody>
          </p:sp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500919C0-92BA-00CD-29D8-653824E77EDB}"/>
                  </a:ext>
                </a:extLst>
              </p:cNvPr>
              <p:cNvSpPr txBox="1"/>
              <p:nvPr/>
            </p:nvSpPr>
            <p:spPr>
              <a:xfrm>
                <a:off x="1680202" y="8479983"/>
                <a:ext cx="171827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en-US"/>
                </a:defPPr>
                <a:lvl1pPr>
                  <a:defRPr sz="1600" b="0" i="0">
                    <a:effectLst/>
                    <a:latin typeface="Roboto Condensed" pitchFamily="2" charset="0"/>
                    <a:ea typeface="Roboto Condensed" pitchFamily="2" charset="0"/>
                  </a:defRPr>
                </a:lvl1pPr>
              </a:lstStyle>
              <a:p>
                <a:pPr algn="r"/>
                <a:r>
                  <a:rPr lang="en-CA" sz="1800" b="1" dirty="0"/>
                  <a:t>Butterflies</a:t>
                </a:r>
                <a:endParaRPr lang="en-CA" sz="1800" b="1" i="1" dirty="0"/>
              </a:p>
            </p:txBody>
          </p:sp>
        </p:grpSp>
        <p:pic>
          <p:nvPicPr>
            <p:cNvPr id="6" name="Picture 5" descr="A map of canada with different colored areas&#10;&#10;Description automatically generated">
              <a:extLst>
                <a:ext uri="{FF2B5EF4-FFF2-40B4-BE49-F238E27FC236}">
                  <a16:creationId xmlns:a16="http://schemas.microsoft.com/office/drawing/2014/main" id="{1097B08F-4974-89E2-BEB0-C2B3B9DF2F5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9343" t="4885" r="7997" b="8770"/>
            <a:stretch/>
          </p:blipFill>
          <p:spPr>
            <a:xfrm>
              <a:off x="2621748" y="-942072"/>
              <a:ext cx="6948503" cy="6844918"/>
            </a:xfrm>
            <a:prstGeom prst="rect">
              <a:avLst/>
            </a:prstGeom>
          </p:spPr>
        </p:pic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2DDA9446-9E8A-A269-CB06-E4768CF2D279}"/>
                </a:ext>
              </a:extLst>
            </p:cNvPr>
            <p:cNvSpPr txBox="1"/>
            <p:nvPr/>
          </p:nvSpPr>
          <p:spPr>
            <a:xfrm>
              <a:off x="3392681" y="359278"/>
              <a:ext cx="1731701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CA" sz="1400" b="0" i="0" u="none" strike="noStrike" dirty="0">
                  <a:solidFill>
                    <a:srgbClr val="000000"/>
                  </a:solidFill>
                  <a:effectLst/>
                  <a:latin typeface="Roboto Condensed" pitchFamily="2" charset="0"/>
                  <a:ea typeface="Roboto Condensed" pitchFamily="2" charset="0"/>
                </a:rPr>
                <a:t>Expedition Fiord Arctic Bioblitz</a:t>
              </a:r>
              <a:endParaRPr lang="en-CA" sz="1400" dirty="0">
                <a:latin typeface="Roboto Condensed" pitchFamily="2" charset="0"/>
                <a:ea typeface="Roboto Condensed" pitchFamily="2" charset="0"/>
              </a:endParaRPr>
            </a:p>
          </p:txBody>
        </p: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CBD5E035-489D-8B33-9081-01A7C182C5E9}"/>
                </a:ext>
              </a:extLst>
            </p:cNvPr>
            <p:cNvCxnSpPr>
              <a:stCxn id="7" idx="3"/>
            </p:cNvCxnSpPr>
            <p:nvPr/>
          </p:nvCxnSpPr>
          <p:spPr>
            <a:xfrm>
              <a:off x="5124382" y="620888"/>
              <a:ext cx="436775" cy="26161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385F2109-B299-01F3-EB68-9A5E874A7B7F}"/>
                </a:ext>
              </a:extLst>
            </p:cNvPr>
            <p:cNvSpPr txBox="1"/>
            <p:nvPr/>
          </p:nvSpPr>
          <p:spPr>
            <a:xfrm>
              <a:off x="8137689" y="3058973"/>
              <a:ext cx="1731701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CA" sz="1400" b="0" i="0" u="none" strike="noStrike" dirty="0">
                  <a:solidFill>
                    <a:srgbClr val="000000"/>
                  </a:solidFill>
                  <a:effectLst/>
                  <a:latin typeface="Roboto Condensed" pitchFamily="2" charset="0"/>
                  <a:ea typeface="Roboto Condensed" pitchFamily="2" charset="0"/>
                </a:rPr>
                <a:t>CBA 2025 </a:t>
              </a:r>
              <a:br>
                <a:rPr lang="en-CA" sz="1400" b="0" i="0" u="none" strike="noStrike" dirty="0">
                  <a:solidFill>
                    <a:srgbClr val="000000"/>
                  </a:solidFill>
                  <a:effectLst/>
                  <a:latin typeface="Roboto Condensed" pitchFamily="2" charset="0"/>
                  <a:ea typeface="Roboto Condensed" pitchFamily="2" charset="0"/>
                </a:rPr>
              </a:br>
              <a:r>
                <a:rPr lang="en-CA" sz="1400" b="0" i="0" u="none" strike="noStrike" dirty="0">
                  <a:solidFill>
                    <a:srgbClr val="000000"/>
                  </a:solidFill>
                  <a:effectLst/>
                  <a:latin typeface="Roboto Condensed" pitchFamily="2" charset="0"/>
                  <a:ea typeface="Roboto Condensed" pitchFamily="2" charset="0"/>
                </a:rPr>
                <a:t>Bioblitz</a:t>
              </a:r>
              <a:endParaRPr lang="en-CA" sz="1400" dirty="0">
                <a:latin typeface="Roboto Condensed" pitchFamily="2" charset="0"/>
                <a:ea typeface="Roboto Condensed" pitchFamily="2" charset="0"/>
              </a:endParaRPr>
            </a:p>
          </p:txBody>
        </p: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EE14568C-AEDB-4A4B-DC11-E1E495AF6C5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419939" y="3582193"/>
              <a:ext cx="62986" cy="263298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8724613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2703</TotalTime>
  <Words>40</Words>
  <Application>Microsoft Macintosh PowerPoint</Application>
  <PresentationFormat>Widescreen</PresentationFormat>
  <Paragraphs>17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Roboto Condensed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Katherine Hébert</dc:creator>
  <cp:lastModifiedBy>Katherine Hébert</cp:lastModifiedBy>
  <cp:revision>2</cp:revision>
  <dcterms:created xsi:type="dcterms:W3CDTF">2026-04-29T20:28:15Z</dcterms:created>
  <dcterms:modified xsi:type="dcterms:W3CDTF">2026-05-02T19:11:12Z</dcterms:modified>
</cp:coreProperties>
</file>